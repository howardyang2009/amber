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16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7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9555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RheinWeg template cover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color palette reference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slide with numbered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section-break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Four-card feature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slide with an image placeholder.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quote or key-stat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Three-column icon and text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Numbered horizontal process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Five-card tips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thank-you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1950" y="4762467"/>
            <a:ext cx="8572481" cy="8572481"/>
          </a:xfrm>
          <a:prstGeom prst="ellipse">
            <a:avLst/>
          </a:prstGeom>
          <a:gradFill rotWithShape="1">
            <a:gsLst>
              <a:gs pos="0">
                <a:srgbClr val="ED7D3E">
                  <a:alpha val="20000"/>
                </a:srgbClr>
              </a:gs>
              <a:gs pos="55000">
                <a:srgbClr val="5B3DF5">
                  <a:alpha val="16000"/>
                </a:srgbClr>
              </a:gs>
              <a:gs pos="80000">
                <a:srgbClr val="BD3DF5">
                  <a:alpha val="12000"/>
                </a:srgbClr>
              </a:gs>
              <a:gs pos="100000">
                <a:srgbClr val="BD3DF5">
                  <a:alpha val="0"/>
                </a:srgbClr>
              </a:gs>
            </a:gsLst>
            <a:path path="circle">
              <a:fillToRect l="35000" t="35000" r="65000" b="65000"/>
            </a:path>
          </a:gra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1142997" y="914344"/>
            <a:ext cx="2402292" cy="390464"/>
          </a:xfrm>
          <a:prstGeom prst="roundRect">
            <a:avLst>
              <a:gd name="adj" fmla="val 50000"/>
            </a:avLst>
          </a:prstGeom>
          <a:solidFill>
            <a:srgbClr val="0D0D0D">
              <a:alpha val="6000"/>
            </a:srgbClr>
          </a:solidFill>
          <a:ln w="869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361190" y="1018277"/>
            <a:ext cx="2162497" cy="2206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TEMPLATE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97" y="3428992"/>
            <a:ext cx="12363447" cy="107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665"/>
              </a:lnSpc>
              <a:buNone/>
            </a:pPr>
            <a:r>
              <a:rPr lang="en-US" sz="7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RheinWeg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142997" y="4469143"/>
            <a:ext cx="12363447" cy="1078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665"/>
              </a:lnSpc>
              <a:buNone/>
            </a:pPr>
            <a:r>
              <a:rPr lang="en-US" sz="7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Deck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142997" y="5852139"/>
            <a:ext cx="8829655" cy="723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9298"/>
              </a:lnSpc>
              <a:buNone/>
            </a:pPr>
            <a:r>
              <a:rPr lang="en-US" sz="18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 slide system for RheinWeg decks — covers, agendas, content, and closing formats built on one shared visual language.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2997" y="9316319"/>
            <a:ext cx="829820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rheinweg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6954280" y="9329361"/>
            <a:ext cx="266881" cy="23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914344"/>
            <a:ext cx="3529040" cy="694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colors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142997" y="2666949"/>
            <a:ext cx="3800436" cy="3238447"/>
          </a:xfrm>
          <a:prstGeom prst="roundRect">
            <a:avLst>
              <a:gd name="adj" fmla="val 1176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142997" y="6133982"/>
            <a:ext cx="4180479" cy="30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2997" y="6475333"/>
            <a:ext cx="4180479" cy="259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D4D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#ED7D3E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210128" y="2666949"/>
            <a:ext cx="3800504" cy="3238447"/>
          </a:xfrm>
          <a:prstGeom prst="roundRect">
            <a:avLst>
              <a:gd name="adj" fmla="val 1176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210128" y="6133982"/>
            <a:ext cx="4180554" cy="30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0128" y="6475333"/>
            <a:ext cx="4180554" cy="259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D4D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#4472C4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277327" y="2666949"/>
            <a:ext cx="3800436" cy="3238447"/>
          </a:xfrm>
          <a:prstGeom prst="roundRect">
            <a:avLst>
              <a:gd name="adj" fmla="val 1176"/>
            </a:avLst>
          </a:prstGeom>
          <a:solidFill>
            <a:srgbClr val="45DEC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9277327" y="6133982"/>
            <a:ext cx="4180479" cy="30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77327" y="6475333"/>
            <a:ext cx="4180479" cy="259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D4D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#45DEC4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3344458" y="2666949"/>
            <a:ext cx="3800504" cy="3238447"/>
          </a:xfrm>
          <a:prstGeom prst="roundRect">
            <a:avLst>
              <a:gd name="adj" fmla="val 1176"/>
            </a:avLst>
          </a:prstGeom>
          <a:solidFill>
            <a:srgbClr val="A98BF8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13344458" y="6133982"/>
            <a:ext cx="4180554" cy="303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344458" y="6475333"/>
            <a:ext cx="4180554" cy="259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D4D4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#A98BF8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2997" y="9316319"/>
            <a:ext cx="829820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rheinweg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954280" y="9329361"/>
            <a:ext cx="266881" cy="23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698444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261BBB-5337-084C-B9AD-45314776A398}"/>
              </a:ext>
            </a:extLst>
          </p:cNvPr>
          <p:cNvSpPr txBox="1"/>
          <p:nvPr/>
        </p:nvSpPr>
        <p:spPr>
          <a:xfrm>
            <a:off x="1143000" y="838200"/>
            <a:ext cx="16002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4000" b="1">
                <a:solidFill>
                  <a:srgbClr val="1B4965"/>
                </a:solidFill>
                <a:latin typeface="Calibri"/>
                <a:cs typeface="Calibri"/>
              </a:rPr>
              <a:t>Rheinweg — Brand Colour Palette</a:t>
            </a:r>
            <a:endParaRPr lang="en-DE" sz="4000" b="1">
              <a:solidFill>
                <a:srgbClr val="1B4965"/>
              </a:solidFill>
              <a:latin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23BC5-BF91-3149-9943-89B4707C7A09}"/>
              </a:ext>
            </a:extLst>
          </p:cNvPr>
          <p:cNvSpPr txBox="1"/>
          <p:nvPr/>
        </p:nvSpPr>
        <p:spPr>
          <a:xfrm>
            <a:off x="1143000" y="1625600"/>
            <a:ext cx="16002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GB" sz="2000">
                <a:solidFill>
                  <a:srgbClr val="5A6B75"/>
                </a:solidFill>
                <a:latin typeface="Calibri"/>
                <a:cs typeface="Calibri"/>
              </a:rPr>
              <a:t>Rhine Blue + Stone — a palette inspired by the river and its valley</a:t>
            </a:r>
            <a:endParaRPr lang="en-DE" sz="2000">
              <a:solidFill>
                <a:srgbClr val="5A6B75"/>
              </a:solidFill>
              <a:latin typeface="Calibri"/>
              <a:cs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A04610-C3B3-B04D-8E36-BDC2CB7BB3AB}"/>
              </a:ext>
            </a:extLst>
          </p:cNvPr>
          <p:cNvSpPr/>
          <p:nvPr/>
        </p:nvSpPr>
        <p:spPr>
          <a:xfrm>
            <a:off x="1143000" y="2184400"/>
            <a:ext cx="1524000" cy="63500"/>
          </a:xfrm>
          <a:prstGeom prst="rect">
            <a:avLst/>
          </a:prstGeom>
          <a:solidFill>
            <a:srgbClr val="E0A45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9EC996D-4AA5-3A43-BD15-05289BC1D134}"/>
              </a:ext>
            </a:extLst>
          </p:cNvPr>
          <p:cNvSpPr/>
          <p:nvPr/>
        </p:nvSpPr>
        <p:spPr>
          <a:xfrm>
            <a:off x="1143000" y="2794000"/>
            <a:ext cx="2413000" cy="3810000"/>
          </a:xfrm>
          <a:prstGeom prst="roundRect">
            <a:avLst/>
          </a:prstGeom>
          <a:solidFill>
            <a:srgbClr val="1B496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0C43B-7333-534B-A2D3-0A8AF1794712}"/>
              </a:ext>
            </a:extLst>
          </p:cNvPr>
          <p:cNvSpPr txBox="1"/>
          <p:nvPr/>
        </p:nvSpPr>
        <p:spPr>
          <a:xfrm>
            <a:off x="1143000" y="5943600"/>
            <a:ext cx="2413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GB" b="1">
                <a:solidFill>
                  <a:srgbClr val="FFFFFF"/>
                </a:solidFill>
              </a:rPr>
              <a:t>#1B4965</a:t>
            </a:r>
            <a:endParaRPr lang="en-DE" b="1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D16AF7-D5E1-1545-9943-C496D4732A30}"/>
              </a:ext>
            </a:extLst>
          </p:cNvPr>
          <p:cNvSpPr txBox="1"/>
          <p:nvPr/>
        </p:nvSpPr>
        <p:spPr>
          <a:xfrm>
            <a:off x="1143000" y="6832600"/>
            <a:ext cx="2413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b="1">
                <a:solidFill>
                  <a:srgbClr val="1B4965"/>
                </a:solidFill>
              </a:rPr>
              <a:t>Rhine Blue</a:t>
            </a:r>
            <a:endParaRPr lang="en-DE" b="1">
              <a:solidFill>
                <a:srgbClr val="1B496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3DF7E-8997-3F44-B3B5-60DE9552964E}"/>
              </a:ext>
            </a:extLst>
          </p:cNvPr>
          <p:cNvSpPr txBox="1"/>
          <p:nvPr/>
        </p:nvSpPr>
        <p:spPr>
          <a:xfrm>
            <a:off x="1143000" y="7188200"/>
            <a:ext cx="2413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>
                <a:solidFill>
                  <a:srgbClr val="8A97A0"/>
                </a:solidFill>
              </a:rPr>
              <a:t>Primary</a:t>
            </a:r>
            <a:endParaRPr lang="en-DE" sz="1400">
              <a:solidFill>
                <a:srgbClr val="8A97A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33ECBD-2FB6-6D43-8A6B-130017668207}"/>
              </a:ext>
            </a:extLst>
          </p:cNvPr>
          <p:cNvSpPr txBox="1"/>
          <p:nvPr/>
        </p:nvSpPr>
        <p:spPr>
          <a:xfrm>
            <a:off x="1143000" y="7518400"/>
            <a:ext cx="2413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>
                <a:solidFill>
                  <a:srgbClr val="5A6B75"/>
                </a:solidFill>
              </a:rPr>
              <a:t>RGB 27 · 73 · 101</a:t>
            </a:r>
            <a:endParaRPr lang="en-DE" sz="1400">
              <a:solidFill>
                <a:srgbClr val="5A6B75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8214B1-56AF-A047-AE86-E9F7ED4A9C10}"/>
              </a:ext>
            </a:extLst>
          </p:cNvPr>
          <p:cNvSpPr/>
          <p:nvPr/>
        </p:nvSpPr>
        <p:spPr>
          <a:xfrm>
            <a:off x="3860800" y="2794000"/>
            <a:ext cx="2413000" cy="3810000"/>
          </a:xfrm>
          <a:prstGeom prst="roundRect">
            <a:avLst/>
          </a:prstGeom>
          <a:solidFill>
            <a:srgbClr val="0D2B3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E760A-FA48-2247-B1EF-FF344E926E5F}"/>
              </a:ext>
            </a:extLst>
          </p:cNvPr>
          <p:cNvSpPr txBox="1"/>
          <p:nvPr/>
        </p:nvSpPr>
        <p:spPr>
          <a:xfrm>
            <a:off x="3860800" y="5943600"/>
            <a:ext cx="2413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GB" b="1">
                <a:solidFill>
                  <a:srgbClr val="FFFFFF"/>
                </a:solidFill>
              </a:rPr>
              <a:t>#0D2B3E</a:t>
            </a:r>
            <a:endParaRPr lang="en-DE" b="1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F73E9D-D0D4-2E44-A235-3DE7DB7C5C73}"/>
              </a:ext>
            </a:extLst>
          </p:cNvPr>
          <p:cNvSpPr txBox="1"/>
          <p:nvPr/>
        </p:nvSpPr>
        <p:spPr>
          <a:xfrm>
            <a:off x="3860800" y="6832600"/>
            <a:ext cx="2413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b="1">
                <a:solidFill>
                  <a:srgbClr val="1B4965"/>
                </a:solidFill>
              </a:rPr>
              <a:t>Deep Navy</a:t>
            </a:r>
            <a:endParaRPr lang="en-DE" b="1">
              <a:solidFill>
                <a:srgbClr val="1B4965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B4F576-7F5F-3044-8BEC-2B4187F11276}"/>
              </a:ext>
            </a:extLst>
          </p:cNvPr>
          <p:cNvSpPr txBox="1"/>
          <p:nvPr/>
        </p:nvSpPr>
        <p:spPr>
          <a:xfrm>
            <a:off x="3860800" y="7188200"/>
            <a:ext cx="2413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>
                <a:solidFill>
                  <a:srgbClr val="8A97A0"/>
                </a:solidFill>
              </a:rPr>
              <a:t>Dark</a:t>
            </a:r>
            <a:endParaRPr lang="en-DE" sz="1400">
              <a:solidFill>
                <a:srgbClr val="8A97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06D306-253E-AB4E-8214-607B68DA2CAD}"/>
              </a:ext>
            </a:extLst>
          </p:cNvPr>
          <p:cNvSpPr txBox="1"/>
          <p:nvPr/>
        </p:nvSpPr>
        <p:spPr>
          <a:xfrm>
            <a:off x="3860800" y="7518400"/>
            <a:ext cx="2413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>
                <a:solidFill>
                  <a:srgbClr val="5A6B75"/>
                </a:solidFill>
              </a:rPr>
              <a:t>RGB 13 · 43 · 62</a:t>
            </a:r>
            <a:endParaRPr lang="en-DE" sz="1400">
              <a:solidFill>
                <a:srgbClr val="5A6B75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02CADFF-CDF5-5441-9955-2617AAEF46E1}"/>
              </a:ext>
            </a:extLst>
          </p:cNvPr>
          <p:cNvSpPr/>
          <p:nvPr/>
        </p:nvSpPr>
        <p:spPr>
          <a:xfrm>
            <a:off x="6578600" y="2794000"/>
            <a:ext cx="2413000" cy="3810000"/>
          </a:xfrm>
          <a:prstGeom prst="roundRect">
            <a:avLst/>
          </a:prstGeom>
          <a:solidFill>
            <a:srgbClr val="2E9E8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72DC4F-6508-C748-90FE-C21BF0BC3849}"/>
              </a:ext>
            </a:extLst>
          </p:cNvPr>
          <p:cNvSpPr txBox="1"/>
          <p:nvPr/>
        </p:nvSpPr>
        <p:spPr>
          <a:xfrm>
            <a:off x="6578600" y="5943600"/>
            <a:ext cx="2413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GB" b="1">
                <a:solidFill>
                  <a:srgbClr val="FFFFFF"/>
                </a:solidFill>
              </a:rPr>
              <a:t>#2E9E8F</a:t>
            </a:r>
            <a:endParaRPr lang="en-DE" b="1">
              <a:solidFill>
                <a:srgbClr val="FFFF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E384BC-ED49-F841-9926-75FBDC77E522}"/>
              </a:ext>
            </a:extLst>
          </p:cNvPr>
          <p:cNvSpPr txBox="1"/>
          <p:nvPr/>
        </p:nvSpPr>
        <p:spPr>
          <a:xfrm>
            <a:off x="6578600" y="6832600"/>
            <a:ext cx="2413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b="1">
                <a:solidFill>
                  <a:srgbClr val="1B4965"/>
                </a:solidFill>
              </a:rPr>
              <a:t>River Teal</a:t>
            </a:r>
            <a:endParaRPr lang="en-DE" b="1">
              <a:solidFill>
                <a:srgbClr val="1B4965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C478A0-1D19-5E42-98FB-874C84277768}"/>
              </a:ext>
            </a:extLst>
          </p:cNvPr>
          <p:cNvSpPr txBox="1"/>
          <p:nvPr/>
        </p:nvSpPr>
        <p:spPr>
          <a:xfrm>
            <a:off x="6578600" y="7188200"/>
            <a:ext cx="2413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>
                <a:solidFill>
                  <a:srgbClr val="8A97A0"/>
                </a:solidFill>
              </a:rPr>
              <a:t>Accent</a:t>
            </a:r>
            <a:endParaRPr lang="en-DE" sz="1400">
              <a:solidFill>
                <a:srgbClr val="8A97A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0BCE84-69C7-7D4B-A1D0-12EF831BD69B}"/>
              </a:ext>
            </a:extLst>
          </p:cNvPr>
          <p:cNvSpPr txBox="1"/>
          <p:nvPr/>
        </p:nvSpPr>
        <p:spPr>
          <a:xfrm>
            <a:off x="6578600" y="7518400"/>
            <a:ext cx="2413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>
                <a:solidFill>
                  <a:srgbClr val="5A6B75"/>
                </a:solidFill>
              </a:rPr>
              <a:t>RGB 46 · 158 · 143</a:t>
            </a:r>
            <a:endParaRPr lang="en-DE" sz="1400">
              <a:solidFill>
                <a:srgbClr val="5A6B75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A1F7A66-7129-5741-A543-CD436EA5BEA0}"/>
              </a:ext>
            </a:extLst>
          </p:cNvPr>
          <p:cNvSpPr/>
          <p:nvPr/>
        </p:nvSpPr>
        <p:spPr>
          <a:xfrm>
            <a:off x="9296400" y="2794000"/>
            <a:ext cx="2413000" cy="3810000"/>
          </a:xfrm>
          <a:prstGeom prst="roundRect">
            <a:avLst/>
          </a:prstGeom>
          <a:solidFill>
            <a:srgbClr val="E0A45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A6B646-9E54-5649-B2CD-53E1B6105175}"/>
              </a:ext>
            </a:extLst>
          </p:cNvPr>
          <p:cNvSpPr txBox="1"/>
          <p:nvPr/>
        </p:nvSpPr>
        <p:spPr>
          <a:xfrm>
            <a:off x="9296400" y="5943600"/>
            <a:ext cx="2413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GB" b="1">
                <a:solidFill>
                  <a:srgbClr val="2B2E33"/>
                </a:solidFill>
              </a:rPr>
              <a:t>#E0A458</a:t>
            </a:r>
            <a:endParaRPr lang="en-DE" b="1">
              <a:solidFill>
                <a:srgbClr val="2B2E33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5E5E2D-D9D0-2C4E-BE1D-DAA7B9C518C5}"/>
              </a:ext>
            </a:extLst>
          </p:cNvPr>
          <p:cNvSpPr txBox="1"/>
          <p:nvPr/>
        </p:nvSpPr>
        <p:spPr>
          <a:xfrm>
            <a:off x="9296400" y="6832600"/>
            <a:ext cx="2413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b="1">
                <a:solidFill>
                  <a:srgbClr val="1B4965"/>
                </a:solidFill>
              </a:rPr>
              <a:t>Warm Gold</a:t>
            </a:r>
            <a:endParaRPr lang="en-DE" b="1">
              <a:solidFill>
                <a:srgbClr val="1B4965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90F5D9-ECBC-4648-8481-75C33DCD6907}"/>
              </a:ext>
            </a:extLst>
          </p:cNvPr>
          <p:cNvSpPr txBox="1"/>
          <p:nvPr/>
        </p:nvSpPr>
        <p:spPr>
          <a:xfrm>
            <a:off x="9296400" y="7188200"/>
            <a:ext cx="2413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>
                <a:solidFill>
                  <a:srgbClr val="8A97A0"/>
                </a:solidFill>
              </a:rPr>
              <a:t>Highlight</a:t>
            </a:r>
            <a:endParaRPr lang="en-DE" sz="1400">
              <a:solidFill>
                <a:srgbClr val="8A97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213C7B-7DDD-604C-A810-B2D1C929F102}"/>
              </a:ext>
            </a:extLst>
          </p:cNvPr>
          <p:cNvSpPr txBox="1"/>
          <p:nvPr/>
        </p:nvSpPr>
        <p:spPr>
          <a:xfrm>
            <a:off x="9296400" y="7518400"/>
            <a:ext cx="2413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>
                <a:solidFill>
                  <a:srgbClr val="5A6B75"/>
                </a:solidFill>
              </a:rPr>
              <a:t>RGB 224 · 164 · 88</a:t>
            </a:r>
            <a:endParaRPr lang="en-DE" sz="1400">
              <a:solidFill>
                <a:srgbClr val="5A6B75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6555DE7-3724-F84F-A1EC-2B6FE950D6B4}"/>
              </a:ext>
            </a:extLst>
          </p:cNvPr>
          <p:cNvSpPr/>
          <p:nvPr/>
        </p:nvSpPr>
        <p:spPr>
          <a:xfrm>
            <a:off x="12014200" y="2794000"/>
            <a:ext cx="2413000" cy="3810000"/>
          </a:xfrm>
          <a:prstGeom prst="roundRect">
            <a:avLst/>
          </a:prstGeom>
          <a:solidFill>
            <a:srgbClr val="D9C7A3"/>
          </a:solidFill>
          <a:ln w="12700" cap="flat" cmpd="sng" algn="ctr">
            <a:solidFill>
              <a:srgbClr val="D5CB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565F3D-C490-A341-BB5E-6F1318D5E7F6}"/>
              </a:ext>
            </a:extLst>
          </p:cNvPr>
          <p:cNvSpPr txBox="1"/>
          <p:nvPr/>
        </p:nvSpPr>
        <p:spPr>
          <a:xfrm>
            <a:off x="12014200" y="5943600"/>
            <a:ext cx="2413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GB" b="1">
                <a:solidFill>
                  <a:srgbClr val="2B2E33"/>
                </a:solidFill>
              </a:rPr>
              <a:t>#D9C7A3</a:t>
            </a:r>
            <a:endParaRPr lang="en-DE" b="1">
              <a:solidFill>
                <a:srgbClr val="2B2E33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204353-83A1-C24F-AE14-FE182BB29ADC}"/>
              </a:ext>
            </a:extLst>
          </p:cNvPr>
          <p:cNvSpPr txBox="1"/>
          <p:nvPr/>
        </p:nvSpPr>
        <p:spPr>
          <a:xfrm>
            <a:off x="12014200" y="6832600"/>
            <a:ext cx="2413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b="1">
                <a:solidFill>
                  <a:srgbClr val="1B4965"/>
                </a:solidFill>
              </a:rPr>
              <a:t>Stone Sand</a:t>
            </a:r>
            <a:endParaRPr lang="en-DE" b="1">
              <a:solidFill>
                <a:srgbClr val="1B4965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4D81FE-9829-484F-8F24-EDB2990225C0}"/>
              </a:ext>
            </a:extLst>
          </p:cNvPr>
          <p:cNvSpPr txBox="1"/>
          <p:nvPr/>
        </p:nvSpPr>
        <p:spPr>
          <a:xfrm>
            <a:off x="12014200" y="7188200"/>
            <a:ext cx="2413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>
                <a:solidFill>
                  <a:srgbClr val="8A97A0"/>
                </a:solidFill>
              </a:rPr>
              <a:t>Secondary</a:t>
            </a:r>
            <a:endParaRPr lang="en-DE" sz="1400">
              <a:solidFill>
                <a:srgbClr val="8A97A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E9D2E-9E39-FB4B-A107-B0D9BF97C4AE}"/>
              </a:ext>
            </a:extLst>
          </p:cNvPr>
          <p:cNvSpPr txBox="1"/>
          <p:nvPr/>
        </p:nvSpPr>
        <p:spPr>
          <a:xfrm>
            <a:off x="12014200" y="7518400"/>
            <a:ext cx="2413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>
                <a:solidFill>
                  <a:srgbClr val="5A6B75"/>
                </a:solidFill>
              </a:rPr>
              <a:t>RGB 217 · 199 · 163</a:t>
            </a:r>
            <a:endParaRPr lang="en-DE" sz="1400">
              <a:solidFill>
                <a:srgbClr val="5A6B75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F155042-2869-CA46-9C74-8DA69E753D62}"/>
              </a:ext>
            </a:extLst>
          </p:cNvPr>
          <p:cNvSpPr/>
          <p:nvPr/>
        </p:nvSpPr>
        <p:spPr>
          <a:xfrm>
            <a:off x="14732000" y="2794000"/>
            <a:ext cx="2413000" cy="3810000"/>
          </a:xfrm>
          <a:prstGeom prst="roundRect">
            <a:avLst/>
          </a:prstGeom>
          <a:solidFill>
            <a:srgbClr val="F4EFE6"/>
          </a:solidFill>
          <a:ln w="12700" cap="flat" cmpd="sng" algn="ctr">
            <a:solidFill>
              <a:srgbClr val="D5CB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D490D3-AB37-2347-9523-31FB9C15C048}"/>
              </a:ext>
            </a:extLst>
          </p:cNvPr>
          <p:cNvSpPr txBox="1"/>
          <p:nvPr/>
        </p:nvSpPr>
        <p:spPr>
          <a:xfrm>
            <a:off x="14732000" y="5943600"/>
            <a:ext cx="2413000" cy="431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GB" b="1">
                <a:solidFill>
                  <a:srgbClr val="2B2E33"/>
                </a:solidFill>
              </a:rPr>
              <a:t>#F4EFE6</a:t>
            </a:r>
            <a:endParaRPr lang="en-DE" b="1">
              <a:solidFill>
                <a:srgbClr val="2B2E33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7DF8FA-F372-7D44-8802-FE2DC49894C1}"/>
              </a:ext>
            </a:extLst>
          </p:cNvPr>
          <p:cNvSpPr txBox="1"/>
          <p:nvPr/>
        </p:nvSpPr>
        <p:spPr>
          <a:xfrm>
            <a:off x="14732000" y="6832600"/>
            <a:ext cx="2413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b="1">
                <a:solidFill>
                  <a:srgbClr val="1B4965"/>
                </a:solidFill>
              </a:rPr>
              <a:t>Mist White</a:t>
            </a:r>
            <a:endParaRPr lang="en-DE" b="1">
              <a:solidFill>
                <a:srgbClr val="1B4965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B8E237-E639-7749-A7D4-E040C409A4A2}"/>
              </a:ext>
            </a:extLst>
          </p:cNvPr>
          <p:cNvSpPr txBox="1"/>
          <p:nvPr/>
        </p:nvSpPr>
        <p:spPr>
          <a:xfrm>
            <a:off x="14732000" y="7188200"/>
            <a:ext cx="2413000" cy="3048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>
                <a:solidFill>
                  <a:srgbClr val="8A97A0"/>
                </a:solidFill>
              </a:rPr>
              <a:t>Neutral</a:t>
            </a:r>
            <a:endParaRPr lang="en-DE" sz="1400">
              <a:solidFill>
                <a:srgbClr val="8A97A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3622B4-D441-D943-9FD1-0CA841AF6863}"/>
              </a:ext>
            </a:extLst>
          </p:cNvPr>
          <p:cNvSpPr txBox="1"/>
          <p:nvPr/>
        </p:nvSpPr>
        <p:spPr>
          <a:xfrm>
            <a:off x="14732000" y="7518400"/>
            <a:ext cx="2413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GB" sz="1400">
                <a:solidFill>
                  <a:srgbClr val="5A6B75"/>
                </a:solidFill>
              </a:rPr>
              <a:t>RGB 244 · 239 · 230</a:t>
            </a:r>
            <a:endParaRPr lang="en-DE" sz="1400">
              <a:solidFill>
                <a:srgbClr val="5A6B7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05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914344"/>
            <a:ext cx="2311870" cy="7424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2997" y="3224250"/>
            <a:ext cx="16001964" cy="9525"/>
          </a:xfrm>
          <a:prstGeom prst="rect">
            <a:avLst/>
          </a:prstGeom>
          <a:solidFill>
            <a:srgbClr val="0D0D0D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142997" y="2648404"/>
            <a:ext cx="685740" cy="34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D7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057273" y="2628840"/>
            <a:ext cx="2774034" cy="385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&amp; context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2997" y="4075962"/>
            <a:ext cx="16001964" cy="9525"/>
          </a:xfrm>
          <a:prstGeom prst="rect">
            <a:avLst/>
          </a:prstGeom>
          <a:solidFill>
            <a:srgbClr val="0D0D0D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1142997" y="3500115"/>
            <a:ext cx="685740" cy="34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D7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57273" y="3480552"/>
            <a:ext cx="3041694" cy="385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approach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42997" y="4927673"/>
            <a:ext cx="16001964" cy="9525"/>
          </a:xfrm>
          <a:prstGeom prst="rect">
            <a:avLst/>
          </a:prstGeom>
          <a:solidFill>
            <a:srgbClr val="0D0D0D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1142997" y="4351827"/>
            <a:ext cx="685740" cy="34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D7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057273" y="4332263"/>
            <a:ext cx="3032428" cy="385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walkthrough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42997" y="5779385"/>
            <a:ext cx="16001964" cy="9525"/>
          </a:xfrm>
          <a:prstGeom prst="rect">
            <a:avLst/>
          </a:prstGeom>
          <a:solidFill>
            <a:srgbClr val="0D0D0D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1142997" y="5203539"/>
            <a:ext cx="685740" cy="34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D7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057273" y="5183975"/>
            <a:ext cx="2844424" cy="385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evidence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42997" y="6631097"/>
            <a:ext cx="16001964" cy="9525"/>
          </a:xfrm>
          <a:prstGeom prst="rect">
            <a:avLst/>
          </a:prstGeom>
          <a:solidFill>
            <a:srgbClr val="0D0D0D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1142997" y="6055251"/>
            <a:ext cx="685740" cy="34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D7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057273" y="6035687"/>
            <a:ext cx="1608199" cy="385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42997" y="9316319"/>
            <a:ext cx="829820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rheinweg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954280" y="9329361"/>
            <a:ext cx="266881" cy="23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7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2997" y="914344"/>
            <a:ext cx="1559479" cy="39046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8695">
            <a:solidFill>
              <a:srgbClr val="07071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361190" y="1018277"/>
            <a:ext cx="1199294" cy="2206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F7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2997" y="4190968"/>
            <a:ext cx="15716214" cy="1025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864"/>
              </a:lnSpc>
              <a:buNone/>
            </a:pPr>
            <a:r>
              <a:rPr lang="en-US" sz="7200" b="1" dirty="0">
                <a:solidFill>
                  <a:srgbClr val="F7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approach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142997" y="5445168"/>
            <a:ext cx="9429729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framing line introducing the next block of slides.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42997" y="9316319"/>
            <a:ext cx="829820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rheinweg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6954280" y="9329361"/>
            <a:ext cx="266881" cy="23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562815" cy="694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142997" y="2666949"/>
            <a:ext cx="3800436" cy="6286486"/>
          </a:xfrm>
          <a:prstGeom prst="roundRect">
            <a:avLst>
              <a:gd name="adj" fmla="val 1003"/>
            </a:avLst>
          </a:prstGeom>
          <a:solidFill>
            <a:srgbClr val="FFFFFF"/>
          </a:solidFill>
          <a:ln w="8695">
            <a:solidFill>
              <a:srgbClr val="0D0D0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456428" y="3056598"/>
            <a:ext cx="3490931" cy="28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D7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456428" y="3490537"/>
            <a:ext cx="3490931" cy="347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885"/>
              </a:lnSpc>
              <a:buNone/>
            </a:pPr>
            <a:r>
              <a:rPr lang="en-US" sz="19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spec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56428" y="3990573"/>
            <a:ext cx="3268781" cy="55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requirements into clear, actionable specifications.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210128" y="2666949"/>
            <a:ext cx="3800504" cy="6286486"/>
          </a:xfrm>
          <a:prstGeom prst="roundRect">
            <a:avLst>
              <a:gd name="adj" fmla="val 1002"/>
            </a:avLst>
          </a:prstGeom>
          <a:solidFill>
            <a:srgbClr val="FFFFFF"/>
          </a:solidFill>
          <a:ln w="8695">
            <a:solidFill>
              <a:srgbClr val="0D0D0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5523559" y="3056598"/>
            <a:ext cx="3491006" cy="28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D7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523559" y="3490537"/>
            <a:ext cx="3491006" cy="347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885"/>
              </a:lnSpc>
              <a:buNone/>
            </a:pPr>
            <a:r>
              <a:rPr lang="en-US" sz="19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523559" y="3990573"/>
            <a:ext cx="3268851" cy="55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the plan and produce production-ready output.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277327" y="2666949"/>
            <a:ext cx="3800436" cy="6286486"/>
          </a:xfrm>
          <a:prstGeom prst="roundRect">
            <a:avLst>
              <a:gd name="adj" fmla="val 1003"/>
            </a:avLst>
          </a:prstGeom>
          <a:solidFill>
            <a:srgbClr val="FFFFFF"/>
          </a:solidFill>
          <a:ln w="8695">
            <a:solidFill>
              <a:srgbClr val="0D0D0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9590758" y="3056598"/>
            <a:ext cx="3490931" cy="28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D7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590758" y="3490537"/>
            <a:ext cx="3490931" cy="347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885"/>
              </a:lnSpc>
              <a:buNone/>
            </a:pPr>
            <a:r>
              <a:rPr lang="en-US" sz="19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90758" y="3990573"/>
            <a:ext cx="3268781" cy="55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review and improvement of quality and structure.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344458" y="2666949"/>
            <a:ext cx="3800504" cy="6286486"/>
          </a:xfrm>
          <a:prstGeom prst="roundRect">
            <a:avLst>
              <a:gd name="adj" fmla="val 1002"/>
            </a:avLst>
          </a:prstGeom>
          <a:solidFill>
            <a:srgbClr val="FFFFFF"/>
          </a:solidFill>
          <a:ln w="8695">
            <a:solidFill>
              <a:srgbClr val="0D0D0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13657888" y="3056598"/>
            <a:ext cx="3491006" cy="28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D7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657888" y="3490537"/>
            <a:ext cx="3491006" cy="347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885"/>
              </a:lnSpc>
              <a:buNone/>
            </a:pPr>
            <a:r>
              <a:rPr lang="en-US" sz="19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657888" y="3990573"/>
            <a:ext cx="3268851" cy="55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3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fixes and support to keep things running smoothly.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2997" y="9316319"/>
            <a:ext cx="829820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rheinweg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954280" y="9329361"/>
            <a:ext cx="266881" cy="23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914344"/>
            <a:ext cx="1938259" cy="390464"/>
          </a:xfrm>
          <a:prstGeom prst="roundRect">
            <a:avLst>
              <a:gd name="adj" fmla="val 50000"/>
            </a:avLst>
          </a:prstGeom>
          <a:solidFill>
            <a:srgbClr val="0D0D0D">
              <a:alpha val="6000"/>
            </a:srgbClr>
          </a:solidFill>
          <a:ln w="869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1361190" y="1018277"/>
            <a:ext cx="1652061" cy="22069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2997" y="2476472"/>
            <a:ext cx="7456107" cy="137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209"/>
              </a:lnSpc>
              <a:buNone/>
            </a:pPr>
            <a:r>
              <a:rPr lang="en-US" sz="4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product in context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2997" y="4084249"/>
            <a:ext cx="7456107" cy="7087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7713"/>
              </a:lnSpc>
              <a:buNone/>
            </a:pPr>
            <a:r>
              <a:rPr lang="en-US" sz="16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layout to pair a walkthrough screenshot or short clip with the narrative that explains what the audience is looking at.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09199" y="1142997"/>
            <a:ext cx="8035762" cy="8035762"/>
          </a:xfrm>
          <a:prstGeom prst="roundRect">
            <a:avLst>
              <a:gd name="adj" fmla="val 2845"/>
            </a:avLst>
          </a:prstGeom>
          <a:solidFill>
            <a:srgbClr val="EDEDF0"/>
          </a:solidFill>
          <a:ln w="17390">
            <a:solidFill>
              <a:srgbClr val="0D0D0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2069539" y="4984735"/>
            <a:ext cx="2115082" cy="352287"/>
          </a:xfrm>
          <a:prstGeom prst="roundRect">
            <a:avLst>
              <a:gd name="adj" fmla="val 16223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2221939" y="5060935"/>
            <a:ext cx="1886482" cy="237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72" dirty="0">
                <a:solidFill>
                  <a:srgbClr val="8A8A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 screenshot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2997" y="9316319"/>
            <a:ext cx="829820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rheinweg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954280" y="9329361"/>
            <a:ext cx="266881" cy="23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7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2997" y="2666949"/>
            <a:ext cx="14716091" cy="147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469"/>
              </a:lnSpc>
              <a:buNone/>
            </a:pPr>
            <a:r>
              <a:rPr lang="en-US" sz="4200" b="1" dirty="0">
                <a:solidFill>
                  <a:srgbClr val="F7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primary daily output is now clean specifications that translate directly into production-quality work."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2997" y="6667440"/>
            <a:ext cx="3813886" cy="2946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Jordan Lee — Head of Engineering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2997" y="9316319"/>
            <a:ext cx="829820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rheinweg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954280" y="9329361"/>
            <a:ext cx="266881" cy="23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914344"/>
            <a:ext cx="8002212" cy="694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pillars of the approach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142997" y="3047971"/>
            <a:ext cx="550780" cy="550780"/>
          </a:xfrm>
          <a:prstGeom prst="ellipse">
            <a:avLst/>
          </a:prstGeom>
          <a:solidFill>
            <a:srgbClr val="ED7D3E">
              <a:alpha val="14000"/>
            </a:srgbClr>
          </a:solidFill>
          <a:ln w="869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142997" y="3808248"/>
            <a:ext cx="5532078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memory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142997" y="4343811"/>
            <a:ext cx="5180036" cy="647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Context, decisions, and preferences carry across sessions so knowledge compounds over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29331" y="3047971"/>
            <a:ext cx="550780" cy="550780"/>
          </a:xfrm>
          <a:prstGeom prst="ellipse">
            <a:avLst/>
          </a:prstGeom>
          <a:solidFill>
            <a:srgbClr val="45DEC4">
              <a:alpha val="14000"/>
            </a:srgbClr>
          </a:solidFill>
          <a:ln w="8695">
            <a:solidFill>
              <a:srgbClr val="45DE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6629331" y="3808248"/>
            <a:ext cx="5532153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assistant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629331" y="4343811"/>
            <a:ext cx="5180107" cy="647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person gets a tailored assistant that understands their projects and working style.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115733" y="3047971"/>
            <a:ext cx="550780" cy="550780"/>
          </a:xfrm>
          <a:prstGeom prst="ellipse">
            <a:avLst/>
          </a:prstGeom>
          <a:solidFill>
            <a:srgbClr val="7C4DF5">
              <a:alpha val="14000"/>
            </a:srgbClr>
          </a:solidFill>
          <a:ln w="8695">
            <a:solidFill>
              <a:srgbClr val="7C4DF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12115733" y="3808248"/>
            <a:ext cx="5532078" cy="364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knowledge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115733" y="4343811"/>
            <a:ext cx="5180036" cy="647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5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common base of context keeps the whole team aligned and moving in the same direction.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2997" y="9316319"/>
            <a:ext cx="829820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rheinweg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6954280" y="9329361"/>
            <a:ext cx="266881" cy="23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914344"/>
            <a:ext cx="6743719" cy="694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automate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142997" y="3047971"/>
            <a:ext cx="5079974" cy="5410115"/>
          </a:xfrm>
          <a:prstGeom prst="roundRect">
            <a:avLst>
              <a:gd name="adj" fmla="val 7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1485842" y="3467033"/>
            <a:ext cx="4833712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485842" y="4173850"/>
            <a:ext cx="4833712" cy="34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prompts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85842" y="4711111"/>
            <a:ext cx="4526112" cy="617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756"/>
              </a:lnSpc>
              <a:buNone/>
            </a:pPr>
            <a:r>
              <a:rPr lang="en-US" sz="1425" dirty="0">
                <a:solidFill>
                  <a:srgbClr val="241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a recurring job in a saved prompt and run it on a schedule.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6603925" y="3047971"/>
            <a:ext cx="5080042" cy="5410115"/>
          </a:xfrm>
          <a:prstGeom prst="roundRect">
            <a:avLst>
              <a:gd name="adj" fmla="val 7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6946770" y="3467033"/>
            <a:ext cx="4833787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946770" y="4173850"/>
            <a:ext cx="4833787" cy="34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skills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46770" y="4711111"/>
            <a:ext cx="4526182" cy="617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756"/>
              </a:lnSpc>
              <a:buNone/>
            </a:pPr>
            <a:r>
              <a:rPr lang="en-US" sz="1425" dirty="0">
                <a:solidFill>
                  <a:srgbClr val="241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the steps you repeat most as a reusable, sharable skill.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12064921" y="3047971"/>
            <a:ext cx="5079974" cy="5410115"/>
          </a:xfrm>
          <a:prstGeom prst="roundRect">
            <a:avLst>
              <a:gd name="adj" fmla="val 7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12407765" y="3467033"/>
            <a:ext cx="4833712" cy="516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70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407765" y="4173850"/>
            <a:ext cx="4833712" cy="34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tools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07765" y="4711111"/>
            <a:ext cx="4526112" cy="617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756"/>
              </a:lnSpc>
              <a:buNone/>
            </a:pPr>
            <a:r>
              <a:rPr lang="en-US" sz="1425" dirty="0">
                <a:solidFill>
                  <a:srgbClr val="241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end-to-end processes through automation platforms.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142997" y="9316319"/>
            <a:ext cx="829820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rheinweg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954280" y="9329361"/>
            <a:ext cx="266881" cy="23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2997" y="914344"/>
            <a:ext cx="4763920" cy="694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&amp; guidelines</a:t>
            </a:r>
            <a:endParaRPr lang="en-US" sz="4500" dirty="0"/>
          </a:p>
        </p:txBody>
      </p:sp>
      <p:sp>
        <p:nvSpPr>
          <p:cNvPr id="3" name="Shape 1"/>
          <p:cNvSpPr/>
          <p:nvPr/>
        </p:nvSpPr>
        <p:spPr>
          <a:xfrm>
            <a:off x="1142997" y="2857494"/>
            <a:ext cx="3017470" cy="3789227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8695">
            <a:solidFill>
              <a:srgbClr val="0D0D0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1380278" y="3132883"/>
            <a:ext cx="360235" cy="360235"/>
          </a:xfrm>
          <a:prstGeom prst="roundRect">
            <a:avLst>
              <a:gd name="adj" fmla="val 21153"/>
            </a:avLst>
          </a:prstGeom>
          <a:solidFill>
            <a:srgbClr val="ED7D3E">
              <a:alpha val="14000"/>
            </a:srgbClr>
          </a:solidFill>
          <a:ln w="869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1380278" y="3645486"/>
            <a:ext cx="2797199" cy="29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762"/>
              </a:lnSpc>
              <a:buNone/>
            </a:pPr>
            <a:r>
              <a:rPr lang="en-US" sz="1575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often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380278" y="4057892"/>
            <a:ext cx="2619195" cy="495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tokens, avoid drift and hallucinations.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053" y="2857494"/>
            <a:ext cx="3017538" cy="3789227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8695">
            <a:solidFill>
              <a:srgbClr val="0D0D0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4626334" y="3132883"/>
            <a:ext cx="360235" cy="360235"/>
          </a:xfrm>
          <a:prstGeom prst="roundRect">
            <a:avLst>
              <a:gd name="adj" fmla="val 21153"/>
            </a:avLst>
          </a:prstGeom>
          <a:solidFill>
            <a:srgbClr val="45DEC4">
              <a:alpha val="14000"/>
            </a:srgbClr>
          </a:solidFill>
          <a:ln w="8695">
            <a:solidFill>
              <a:srgbClr val="45DE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4626334" y="3645486"/>
            <a:ext cx="2797273" cy="29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762"/>
              </a:lnSpc>
              <a:buNone/>
            </a:pPr>
            <a:r>
              <a:rPr lang="en-US" sz="1575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handoff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4626334" y="4057892"/>
            <a:ext cx="2797273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context to docs as needed.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35176" y="2857494"/>
            <a:ext cx="3017538" cy="3789227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8695">
            <a:solidFill>
              <a:srgbClr val="0D0D0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7872458" y="3132883"/>
            <a:ext cx="360235" cy="360235"/>
          </a:xfrm>
          <a:prstGeom prst="roundRect">
            <a:avLst>
              <a:gd name="adj" fmla="val 21153"/>
            </a:avLst>
          </a:prstGeom>
          <a:solidFill>
            <a:srgbClr val="7C4DF5">
              <a:alpha val="14000"/>
            </a:srgbClr>
          </a:solidFill>
          <a:ln w="8695">
            <a:solidFill>
              <a:srgbClr val="7C4DF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7872458" y="3645486"/>
            <a:ext cx="2797273" cy="29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762"/>
              </a:lnSpc>
              <a:buNone/>
            </a:pPr>
            <a:r>
              <a:rPr lang="en-US" sz="1575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&amp; hooks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7872458" y="4057892"/>
            <a:ext cx="2619265" cy="495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tooling to save tokens and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881300" y="2857494"/>
            <a:ext cx="3017538" cy="3789227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8695">
            <a:solidFill>
              <a:srgbClr val="0D0D0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11118582" y="3132883"/>
            <a:ext cx="360235" cy="360235"/>
          </a:xfrm>
          <a:prstGeom prst="roundRect">
            <a:avLst>
              <a:gd name="adj" fmla="val 21153"/>
            </a:avLst>
          </a:prstGeom>
          <a:solidFill>
            <a:srgbClr val="ED7D3E">
              <a:alpha val="14000"/>
            </a:srgbClr>
          </a:solidFill>
          <a:ln w="869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11118582" y="3645486"/>
            <a:ext cx="2797273" cy="29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762"/>
              </a:lnSpc>
              <a:buNone/>
            </a:pPr>
            <a:r>
              <a:rPr lang="en-US" sz="1575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generation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1118582" y="4057892"/>
            <a:ext cx="2797273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model draft its own prompt.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127424" y="2857494"/>
            <a:ext cx="3017538" cy="3789227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8695">
            <a:solidFill>
              <a:srgbClr val="0D0D0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14364705" y="3132883"/>
            <a:ext cx="360235" cy="360235"/>
          </a:xfrm>
          <a:prstGeom prst="roundRect">
            <a:avLst>
              <a:gd name="adj" fmla="val 21153"/>
            </a:avLst>
          </a:prstGeom>
          <a:solidFill>
            <a:srgbClr val="45DEC4">
              <a:alpha val="14000"/>
            </a:srgbClr>
          </a:solidFill>
          <a:ln w="8695">
            <a:solidFill>
              <a:srgbClr val="45DE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14364705" y="3645486"/>
            <a:ext cx="2797273" cy="29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762"/>
              </a:lnSpc>
              <a:buNone/>
            </a:pPr>
            <a:r>
              <a:rPr lang="en-US" sz="1575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everything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4364705" y="4057892"/>
            <a:ext cx="2619265" cy="495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53"/>
              </a:lnSpc>
              <a:buNone/>
            </a:pPr>
            <a:r>
              <a:rPr lang="en-US" sz="120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unit and end-to-end tests as a safety net.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2997" y="9316319"/>
            <a:ext cx="829820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rheinweg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954280" y="9329361"/>
            <a:ext cx="266881" cy="23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7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2997" y="3809946"/>
            <a:ext cx="14668442" cy="960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531"/>
              </a:lnSpc>
              <a:buNone/>
            </a:pPr>
            <a:r>
              <a:rPr lang="en-US" sz="6600" b="1" dirty="0">
                <a:solidFill>
                  <a:srgbClr val="F7F7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142997" y="4960484"/>
            <a:ext cx="9429729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follow-ups welcome — reach the team any time.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2997" y="9316319"/>
            <a:ext cx="829820" cy="246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A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rheinweg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6966984" y="9329361"/>
            <a:ext cx="254178" cy="23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9B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FB288A-288F-3648-A164-8D7712FDB8B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691158e2-96d2-4019-a685-96fccc84123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529</Words>
  <Application>Microsoft Macintosh PowerPoint</Application>
  <PresentationFormat>Custom</PresentationFormat>
  <Paragraphs>146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 Yang</cp:lastModifiedBy>
  <cp:revision>2</cp:revision>
  <dcterms:created xsi:type="dcterms:W3CDTF">2026-08-06T06:39:20Z</dcterms:created>
  <dcterms:modified xsi:type="dcterms:W3CDTF">2026-08-06T07:00:19Z</dcterms:modified>
</cp:coreProperties>
</file>