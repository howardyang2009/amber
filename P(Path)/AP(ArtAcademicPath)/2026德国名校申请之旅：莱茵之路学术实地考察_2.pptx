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embeddedFontLst>
    <p:embeddedFont>
      <p:font typeface="Inter" panose="02000503000000020004"/>
      <p:regular r:id="rId14"/>
      <p:bold r:id="rId15"/>
      <p:italic r:id="rId16"/>
      <p:boldItalic r:id="rId17"/>
    </p:embeddedFont>
    <p:embeddedFont>
      <p:font typeface="Poppins" pitchFamily="2" charset="77"/>
      <p:regular r:id="rId18"/>
      <p:bold r:id="rId19"/>
      <p:italic r:id="rId20"/>
      <p:boldItalic r:id="rId21"/>
    </p:embeddedFont>
    <p:embeddedFont>
      <p:font typeface="Poppins Medium" panose="00000600000000000000"/>
      <p:regular r:id="rId22"/>
      <p:italic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5058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578931f-413b-423c-819c-f7b96b3c600d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itle-427"/>
          <p:cNvSpPr txBox="1"/>
          <p:nvPr/>
        </p:nvSpPr>
        <p:spPr>
          <a:xfrm>
            <a:off x="762000" y="762000"/>
            <a:ext cx="8034338" cy="277749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7020"/>
              </a:lnSpc>
              <a:buNone/>
            </a:pPr>
            <a:r>
              <a:rPr lang="en-US" sz="5400" kern="1200" spc="-151" dirty="0">
                <a:solidFill>
                  <a:srgbClr val="000000"/>
                </a:solidFill>
                <a:latin typeface="Poppins Medium" panose="00000600000000000000" pitchFamily="2" charset="0"/>
              </a:rPr>
              <a:t>2026德国名校申请之旅：开启通往欧洲学术殿堂的莱茵之路</a:t>
            </a:r>
            <a:endParaRPr lang="en-US" sz="5400" dirty="0"/>
          </a:p>
        </p:txBody>
      </p:sp>
      <p:sp>
        <p:nvSpPr>
          <p:cNvPr id="4" name="subtitle-433"/>
          <p:cNvSpPr txBox="1"/>
          <p:nvPr/>
        </p:nvSpPr>
        <p:spPr>
          <a:xfrm>
            <a:off x="762000" y="3607891"/>
            <a:ext cx="803433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莱茵之路：沉浸式名校学术体验与顶尖申请本/硕/博规划营</a:t>
            </a:r>
            <a:endParaRPr lang="en-US" sz="2100" dirty="0"/>
          </a:p>
        </p:txBody>
      </p:sp>
      <p:sp>
        <p:nvSpPr>
          <p:cNvPr id="5" name="nametext-node-G7Ofkq-1-2"/>
          <p:cNvSpPr txBox="1"/>
          <p:nvPr/>
        </p:nvSpPr>
        <p:spPr>
          <a:xfrm>
            <a:off x="771525" y="8824094"/>
            <a:ext cx="11953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1B1167"/>
                </a:solidFill>
                <a:latin typeface="Poppins Medium" panose="00000600000000000000" pitchFamily="2" charset="0"/>
              </a:rPr>
              <a:t>朱丽颖</a:t>
            </a:r>
            <a:endParaRPr lang="en-US" sz="2100" dirty="0"/>
          </a:p>
        </p:txBody>
      </p:sp>
      <p:sp>
        <p:nvSpPr>
          <p:cNvPr id="6" name="designationtext-node-G7Ofkq-1-2"/>
          <p:cNvSpPr txBox="1"/>
          <p:nvPr/>
        </p:nvSpPr>
        <p:spPr>
          <a:xfrm>
            <a:off x="771525" y="9243194"/>
            <a:ext cx="1195388" cy="3962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4D535C"/>
                </a:solidFill>
                <a:latin typeface="Inter" panose="02000503000000020004" pitchFamily="2" charset="0"/>
              </a:rPr>
              <a:t>项目负责人</a:t>
            </a:r>
            <a:endParaRPr lang="en-US" sz="1800" dirty="0"/>
          </a:p>
        </p:txBody>
      </p:sp>
      <p:sp>
        <p:nvSpPr>
          <p:cNvPr id="7" name="::before"/>
          <p:cNvSpPr/>
          <p:nvPr/>
        </p:nvSpPr>
        <p:spPr>
          <a:xfrm>
            <a:off x="9525000" y="0"/>
            <a:ext cx="85725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9525000" y="0"/>
            <a:ext cx="857250" cy="47625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::after"/>
          <p:cNvSpPr/>
          <p:nvPr/>
        </p:nvSpPr>
        <p:spPr>
          <a:xfrm>
            <a:off x="9525000" y="0"/>
            <a:ext cx="857250" cy="4762500"/>
          </a:xfrm>
          <a:prstGeom prst="rect">
            <a:avLst/>
          </a:prstGeom>
          <a:gradFill>
            <a:gsLst>
              <a:gs pos="0">
                <a:srgbClr val="1B1167"/>
              </a:gs>
              <a:gs pos="33333">
                <a:srgbClr val="1B1167"/>
              </a:gs>
              <a:gs pos="66667">
                <a:srgbClr val="EFEFEF"/>
              </a:gs>
              <a:gs pos="100000">
                <a:srgbClr val="1B1167"/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10" name="img-image-diagram-yMhuE5-0" descr="preencoded.png"/>
          <p:cNvPicPr>
            <a:picLocks noChangeAspect="1"/>
          </p:cNvPicPr>
          <p:nvPr/>
        </p:nvPicPr>
        <p:blipFill>
          <a:blip r:embed="rId3"/>
          <a:srcRect l="25661" r="25661"/>
          <a:stretch>
            <a:fillRect/>
          </a:stretch>
        </p:blipFill>
        <p:spPr>
          <a:xfrm>
            <a:off x="9525000" y="0"/>
            <a:ext cx="8763000" cy="10287000"/>
          </a:xfrm>
          <a:prstGeom prst="rect">
            <a:avLst/>
          </a:prstGeom>
        </p:spPr>
      </p:pic>
      <p:sp>
        <p:nvSpPr>
          <p:cNvPr id="11" name="Rect"/>
          <p:cNvSpPr/>
          <p:nvPr/>
        </p:nvSpPr>
        <p:spPr>
          <a:xfrm>
            <a:off x="10363200" y="1714500"/>
            <a:ext cx="1905000" cy="952500"/>
          </a:xfrm>
          <a:prstGeom prst="rect">
            <a:avLst/>
          </a:prstGeom>
          <a:solidFill>
            <a:srgbClr val="E0673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cs-dewdrop-design-shape-style-3-a"/>
          <p:cNvSpPr/>
          <p:nvPr/>
        </p:nvSpPr>
        <p:spPr>
          <a:xfrm>
            <a:off x="15239330" y="8763446"/>
            <a:ext cx="762000" cy="7620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cs-dewdrop-design-shape-style-3-b"/>
          <p:cNvSpPr/>
          <p:nvPr/>
        </p:nvSpPr>
        <p:spPr>
          <a:xfrm>
            <a:off x="16764595" y="7238926"/>
            <a:ext cx="800100" cy="1524000"/>
          </a:xfrm>
          <a:prstGeom prst="rect">
            <a:avLst/>
          </a:prstGeom>
          <a:solidFill>
            <a:srgbClr val="E06735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cs-dewdrop-design-shape-style-3-c"/>
          <p:cNvSpPr/>
          <p:nvPr/>
        </p:nvSpPr>
        <p:spPr>
          <a:xfrm>
            <a:off x="16764595" y="8763446"/>
            <a:ext cx="1524000" cy="762000"/>
          </a:xfrm>
          <a:prstGeom prst="rect">
            <a:avLst/>
          </a:prstGeom>
          <a:solidFill>
            <a:srgbClr val="60A46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cs-dewdrop-design-shape-style-3-d"/>
          <p:cNvSpPr/>
          <p:nvPr/>
        </p:nvSpPr>
        <p:spPr>
          <a:xfrm>
            <a:off x="16002000" y="9524702"/>
            <a:ext cx="762000" cy="762000"/>
          </a:xfrm>
          <a:prstGeom prst="rect">
            <a:avLst/>
          </a:prstGeom>
          <a:solidFill>
            <a:srgbClr val="FFCB3F"/>
          </a:solidFill>
          <a:ln/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7aa67c9-6e84-4495-9464-faedd1b96d46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itle-425"/>
          <p:cNvSpPr txBox="1"/>
          <p:nvPr/>
        </p:nvSpPr>
        <p:spPr>
          <a:xfrm>
            <a:off x="762000" y="762000"/>
            <a:ext cx="6738938" cy="1539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4200" kern="1200" spc="-118" dirty="0">
                <a:solidFill>
                  <a:srgbClr val="000000"/>
                </a:solidFill>
                <a:latin typeface="Poppins Medium" panose="00000600000000000000" pitchFamily="2" charset="0"/>
              </a:rPr>
              <a:t>为什么选择德国：全球顶尖科研实力与精英教育体系</a:t>
            </a:r>
            <a:endParaRPr lang="en-US" sz="4200" dirty="0"/>
          </a:p>
        </p:txBody>
      </p:sp>
      <p:sp>
        <p:nvSpPr>
          <p:cNvPr id="7" name="subtitle-418"/>
          <p:cNvSpPr txBox="1"/>
          <p:nvPr/>
        </p:nvSpPr>
        <p:spPr>
          <a:xfrm>
            <a:off x="762000" y="2487811"/>
            <a:ext cx="67389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德国高等教育以严谨著称，其学术含金量在全球范围内享有极高声誉。</a:t>
            </a:r>
            <a:endParaRPr lang="en-US" sz="2100" dirty="0"/>
          </a:p>
        </p:txBody>
      </p:sp>
      <p:sp>
        <p:nvSpPr>
          <p:cNvPr id="8" name="node-diagram-KSw5AD-0"/>
          <p:cNvSpPr/>
          <p:nvPr/>
        </p:nvSpPr>
        <p:spPr>
          <a:xfrm>
            <a:off x="8229600" y="762000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sequencetext-diagram-KSw5AD-0"/>
          <p:cNvSpPr/>
          <p:nvPr/>
        </p:nvSpPr>
        <p:spPr>
          <a:xfrm>
            <a:off x="8553450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::before"/>
          <p:cNvSpPr txBox="1"/>
          <p:nvPr/>
        </p:nvSpPr>
        <p:spPr>
          <a:xfrm>
            <a:off x="8713589" y="1233488"/>
            <a:ext cx="289322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01</a:t>
            </a:r>
            <a:endParaRPr lang="en-US" sz="2100" dirty="0"/>
          </a:p>
        </p:txBody>
      </p:sp>
      <p:sp>
        <p:nvSpPr>
          <p:cNvPr id="11" name="headingtext-diagram-KSw5AD-0-1"/>
          <p:cNvSpPr txBox="1"/>
          <p:nvPr/>
        </p:nvSpPr>
        <p:spPr>
          <a:xfrm>
            <a:off x="8553450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科研顶峰</a:t>
            </a:r>
            <a:endParaRPr lang="en-US" sz="2100" dirty="0"/>
          </a:p>
        </p:txBody>
      </p:sp>
      <p:sp>
        <p:nvSpPr>
          <p:cNvPr id="12" name="bodytext-diagram-KSw5AD-0-1"/>
          <p:cNvSpPr txBox="1"/>
          <p:nvPr/>
        </p:nvSpPr>
        <p:spPr>
          <a:xfrm>
            <a:off x="8553450" y="243840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拥有TU9理工大学联盟及精英大学，在机械、AI、医学等领域领先全球。</a:t>
            </a:r>
            <a:endParaRPr lang="en-US" sz="1800" dirty="0"/>
          </a:p>
        </p:txBody>
      </p:sp>
      <p:sp>
        <p:nvSpPr>
          <p:cNvPr id="13" name="node-diagram-KSw5AD-1"/>
          <p:cNvSpPr/>
          <p:nvPr/>
        </p:nvSpPr>
        <p:spPr>
          <a:xfrm>
            <a:off x="12953926" y="76200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sequencetext-diagram-KSw5AD-1"/>
          <p:cNvSpPr/>
          <p:nvPr/>
        </p:nvSpPr>
        <p:spPr>
          <a:xfrm>
            <a:off x="13277776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::before"/>
          <p:cNvSpPr txBox="1"/>
          <p:nvPr/>
        </p:nvSpPr>
        <p:spPr>
          <a:xfrm>
            <a:off x="13403907" y="1233488"/>
            <a:ext cx="357336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02</a:t>
            </a:r>
            <a:endParaRPr lang="en-US" sz="2100" dirty="0"/>
          </a:p>
        </p:txBody>
      </p:sp>
      <p:sp>
        <p:nvSpPr>
          <p:cNvPr id="16" name="headingtext-diagram-KSw5AD-1-2"/>
          <p:cNvSpPr txBox="1"/>
          <p:nvPr/>
        </p:nvSpPr>
        <p:spPr>
          <a:xfrm>
            <a:off x="13277776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职业机会</a:t>
            </a:r>
            <a:endParaRPr lang="en-US" sz="2100" dirty="0"/>
          </a:p>
        </p:txBody>
      </p:sp>
      <p:sp>
        <p:nvSpPr>
          <p:cNvPr id="17" name="bodytext-diagram-KSw5AD-1-2"/>
          <p:cNvSpPr txBox="1"/>
          <p:nvPr/>
        </p:nvSpPr>
        <p:spPr>
          <a:xfrm>
            <a:off x="13277776" y="243840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德国名校文凭是进入西门子、奔驰、SAP等跨国巨头的有力敲门砖。</a:t>
            </a:r>
            <a:endParaRPr lang="en-US" sz="1800" dirty="0"/>
          </a:p>
        </p:txBody>
      </p:sp>
      <p:sp>
        <p:nvSpPr>
          <p:cNvPr id="18" name="node-diagram-KSw5AD-2"/>
          <p:cNvSpPr/>
          <p:nvPr/>
        </p:nvSpPr>
        <p:spPr>
          <a:xfrm>
            <a:off x="8229600" y="566544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equencetext-diagram-KSw5AD-2"/>
          <p:cNvSpPr/>
          <p:nvPr/>
        </p:nvSpPr>
        <p:spPr>
          <a:xfrm>
            <a:off x="8553450" y="598929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::before"/>
          <p:cNvSpPr txBox="1"/>
          <p:nvPr/>
        </p:nvSpPr>
        <p:spPr>
          <a:xfrm>
            <a:off x="8677721" y="6136928"/>
            <a:ext cx="361057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03</a:t>
            </a:r>
            <a:endParaRPr lang="en-US" sz="2100" dirty="0"/>
          </a:p>
        </p:txBody>
      </p:sp>
      <p:sp>
        <p:nvSpPr>
          <p:cNvPr id="21" name="headingtext-diagram-KSw5AD-2-3"/>
          <p:cNvSpPr txBox="1"/>
          <p:nvPr/>
        </p:nvSpPr>
        <p:spPr>
          <a:xfrm>
            <a:off x="8553450" y="682749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成本优势</a:t>
            </a:r>
            <a:endParaRPr lang="en-US" sz="2100" dirty="0"/>
          </a:p>
        </p:txBody>
      </p:sp>
      <p:sp>
        <p:nvSpPr>
          <p:cNvPr id="22" name="bodytext-diagram-KSw5AD-2-3"/>
          <p:cNvSpPr txBox="1"/>
          <p:nvPr/>
        </p:nvSpPr>
        <p:spPr>
          <a:xfrm>
            <a:off x="8553450" y="7341840"/>
            <a:ext cx="3957638" cy="9963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公立大学实行低学费政策，极高的性价比让学生能将资源集中于学术研究。</a:t>
            </a:r>
            <a:endParaRPr lang="en-US" sz="1800" dirty="0"/>
          </a:p>
        </p:txBody>
      </p:sp>
      <p:sp>
        <p:nvSpPr>
          <p:cNvPr id="23" name="node-diagram-KSw5AD-3"/>
          <p:cNvSpPr/>
          <p:nvPr/>
        </p:nvSpPr>
        <p:spPr>
          <a:xfrm>
            <a:off x="12953926" y="4773885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sequencetext-diagram-KSw5AD-3"/>
          <p:cNvSpPr/>
          <p:nvPr/>
        </p:nvSpPr>
        <p:spPr>
          <a:xfrm>
            <a:off x="13277776" y="5097735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::before"/>
          <p:cNvSpPr txBox="1"/>
          <p:nvPr/>
        </p:nvSpPr>
        <p:spPr>
          <a:xfrm>
            <a:off x="13396689" y="5245373"/>
            <a:ext cx="371698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04</a:t>
            </a:r>
            <a:endParaRPr lang="en-US" sz="2100" dirty="0"/>
          </a:p>
        </p:txBody>
      </p:sp>
      <p:sp>
        <p:nvSpPr>
          <p:cNvPr id="26" name="headingtext-diagram-KSw5AD-3-4"/>
          <p:cNvSpPr txBox="1"/>
          <p:nvPr/>
        </p:nvSpPr>
        <p:spPr>
          <a:xfrm>
            <a:off x="13277776" y="5935935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留德环境</a:t>
            </a:r>
            <a:endParaRPr lang="en-US" sz="2100" dirty="0"/>
          </a:p>
        </p:txBody>
      </p:sp>
      <p:sp>
        <p:nvSpPr>
          <p:cNvPr id="27" name="bodytext-diagram-KSw5AD-3-4"/>
          <p:cNvSpPr txBox="1"/>
          <p:nvPr/>
        </p:nvSpPr>
        <p:spPr>
          <a:xfrm>
            <a:off x="13277776" y="6450285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宽松的留学生工作签证政策，为未来在欧洲的职业发展提供了广阔空间。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6055d97-8ab9-4cc9-b2c8-6b7248313c40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" name="centralizedworkflow4node-layer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50" y="14288"/>
            <a:ext cx="18288000" cy="10287000"/>
          </a:xfrm>
          <a:prstGeom prst="rect">
            <a:avLst/>
          </a:prstGeom>
        </p:spPr>
      </p:pic>
      <p:pic>
        <p:nvPicPr>
          <p:cNvPr id="4" name="SVG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6203" y="5027265"/>
            <a:ext cx="381000" cy="381000"/>
          </a:xfrm>
          <a:prstGeom prst="rect">
            <a:avLst/>
          </a:prstGeom>
        </p:spPr>
      </p:pic>
      <p:pic>
        <p:nvPicPr>
          <p:cNvPr id="5" name="SVG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3585" y="5027265"/>
            <a:ext cx="381000" cy="381000"/>
          </a:xfrm>
          <a:prstGeom prst="rect">
            <a:avLst/>
          </a:prstGeom>
        </p:spPr>
      </p:pic>
      <p:pic>
        <p:nvPicPr>
          <p:cNvPr id="6" name="SVG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93585" y="6823695"/>
            <a:ext cx="381000" cy="381000"/>
          </a:xfrm>
          <a:prstGeom prst="rect">
            <a:avLst/>
          </a:prstGeom>
        </p:spPr>
      </p:pic>
      <p:pic>
        <p:nvPicPr>
          <p:cNvPr id="7" name="SVG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6203" y="6823695"/>
            <a:ext cx="381000" cy="381000"/>
          </a:xfrm>
          <a:prstGeom prst="rect">
            <a:avLst/>
          </a:prstGeom>
        </p:spPr>
      </p:pic>
      <p:sp>
        <p:nvSpPr>
          <p:cNvPr id="8" name="headingtext-diagram-s2CUFs-0-1"/>
          <p:cNvSpPr txBox="1"/>
          <p:nvPr/>
        </p:nvSpPr>
        <p:spPr>
          <a:xfrm>
            <a:off x="3263205" y="3384575"/>
            <a:ext cx="4224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名校走访</a:t>
            </a:r>
            <a:endParaRPr lang="en-US" sz="2100" dirty="0"/>
          </a:p>
        </p:txBody>
      </p:sp>
      <p:sp>
        <p:nvSpPr>
          <p:cNvPr id="9" name="bodytext-diagram-s2CUFs-0-1"/>
          <p:cNvSpPr txBox="1"/>
          <p:nvPr/>
        </p:nvSpPr>
        <p:spPr>
          <a:xfrm>
            <a:off x="3263205" y="3860825"/>
            <a:ext cx="4224338" cy="9296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r">
              <a:lnSpc>
                <a:spcPts val="2180"/>
              </a:lnSpc>
              <a:buNone/>
            </a:pPr>
            <a:r>
              <a:rPr lang="en-US" sz="1650" kern="1200" spc="31" dirty="0">
                <a:solidFill>
                  <a:srgbClr val="4D535C"/>
                </a:solidFill>
                <a:latin typeface="Inter" panose="02000503000000020004" pitchFamily="2" charset="0"/>
              </a:rPr>
              <a:t>深度调研法兰克福大学、柏林自由大学、慕尼黑理工、慕尼黑大学，沉浸式感受各校科研氛围。</a:t>
            </a:r>
            <a:endParaRPr lang="en-US" sz="1650" dirty="0"/>
          </a:p>
        </p:txBody>
      </p:sp>
      <p:sp>
        <p:nvSpPr>
          <p:cNvPr id="10" name="headingtext-diagram-s2CUFs-1-2"/>
          <p:cNvSpPr txBox="1"/>
          <p:nvPr/>
        </p:nvSpPr>
        <p:spPr>
          <a:xfrm>
            <a:off x="10846073" y="3522911"/>
            <a:ext cx="4224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教授课堂</a:t>
            </a:r>
            <a:endParaRPr lang="en-US" sz="2100" dirty="0"/>
          </a:p>
        </p:txBody>
      </p:sp>
      <p:sp>
        <p:nvSpPr>
          <p:cNvPr id="11" name="bodytext-diagram-s2CUFs-1-2"/>
          <p:cNvSpPr txBox="1"/>
          <p:nvPr/>
        </p:nvSpPr>
        <p:spPr>
          <a:xfrm>
            <a:off x="10846073" y="3999161"/>
            <a:ext cx="4224338" cy="6534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180"/>
              </a:lnSpc>
              <a:buNone/>
            </a:pPr>
            <a:r>
              <a:rPr lang="en-US" sz="1650" kern="1200" spc="31" dirty="0">
                <a:solidFill>
                  <a:srgbClr val="4D535C"/>
                </a:solidFill>
                <a:latin typeface="Inter" panose="02000503000000020004" pitchFamily="2" charset="0"/>
              </a:rPr>
              <a:t>进入大学实验室或教室，体验真实的德式学术授课逻辑与互动。</a:t>
            </a:r>
            <a:endParaRPr lang="en-US" sz="1650" dirty="0"/>
          </a:p>
        </p:txBody>
      </p:sp>
      <p:sp>
        <p:nvSpPr>
          <p:cNvPr id="12" name="headingtext-diagram-s2CUFs-2-3"/>
          <p:cNvSpPr txBox="1"/>
          <p:nvPr/>
        </p:nvSpPr>
        <p:spPr>
          <a:xfrm>
            <a:off x="10846073" y="7713911"/>
            <a:ext cx="4224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申请指导</a:t>
            </a:r>
            <a:endParaRPr lang="en-US" sz="2100" dirty="0"/>
          </a:p>
        </p:txBody>
      </p:sp>
      <p:sp>
        <p:nvSpPr>
          <p:cNvPr id="13" name="bodytext-diagram-s2CUFs-2-3"/>
          <p:cNvSpPr txBox="1"/>
          <p:nvPr/>
        </p:nvSpPr>
        <p:spPr>
          <a:xfrm>
            <a:off x="10846073" y="8190161"/>
            <a:ext cx="4224338" cy="6534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180"/>
              </a:lnSpc>
              <a:buNone/>
            </a:pPr>
            <a:r>
              <a:rPr lang="en-US" sz="1650" kern="1200" spc="31" dirty="0">
                <a:solidFill>
                  <a:srgbClr val="4D535C"/>
                </a:solidFill>
                <a:latin typeface="Inter" panose="02000503000000020004" pitchFamily="2" charset="0"/>
              </a:rPr>
              <a:t>特邀名校在读学生分享从文书准备、教授套磁到面试考核的全流程秘籍。</a:t>
            </a:r>
            <a:endParaRPr lang="en-US" sz="1650" dirty="0"/>
          </a:p>
        </p:txBody>
      </p:sp>
      <p:sp>
        <p:nvSpPr>
          <p:cNvPr id="14" name="headingtext-diagram-s2CUFs-3-4"/>
          <p:cNvSpPr txBox="1"/>
          <p:nvPr/>
        </p:nvSpPr>
        <p:spPr>
          <a:xfrm>
            <a:off x="3263205" y="7713911"/>
            <a:ext cx="4224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文化研学</a:t>
            </a:r>
            <a:endParaRPr lang="en-US" sz="2100" dirty="0"/>
          </a:p>
        </p:txBody>
      </p:sp>
      <p:sp>
        <p:nvSpPr>
          <p:cNvPr id="15" name="bodytext-diagram-s2CUFs-3-4"/>
          <p:cNvSpPr txBox="1"/>
          <p:nvPr/>
        </p:nvSpPr>
        <p:spPr>
          <a:xfrm>
            <a:off x="3263205" y="8190161"/>
            <a:ext cx="4224338" cy="6534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r">
              <a:lnSpc>
                <a:spcPts val="2180"/>
              </a:lnSpc>
              <a:buNone/>
            </a:pPr>
            <a:r>
              <a:rPr lang="en-US" sz="1650" kern="1200" spc="31" dirty="0">
                <a:solidFill>
                  <a:srgbClr val="4D535C"/>
                </a:solidFill>
                <a:latin typeface="Inter" panose="02000503000000020004" pitchFamily="2" charset="0"/>
              </a:rPr>
              <a:t>考察德意志博物馆、巴伐利亚国立博物馆等，构建完整欧洲文化视野。</a:t>
            </a:r>
            <a:endParaRPr lang="en-US" sz="1650" dirty="0"/>
          </a:p>
        </p:txBody>
      </p:sp>
      <p:sp>
        <p:nvSpPr>
          <p:cNvPr id="16" name="headingtext-diagram-s2CUFs-0-commonpoint-start-1"/>
          <p:cNvSpPr txBox="1"/>
          <p:nvPr/>
        </p:nvSpPr>
        <p:spPr>
          <a:xfrm>
            <a:off x="8482013" y="5715000"/>
            <a:ext cx="1385888" cy="9010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四大核心支柱</a:t>
            </a:r>
            <a:endParaRPr lang="en-US" sz="2100" dirty="0"/>
          </a:p>
        </p:txBody>
      </p:sp>
      <p:sp>
        <p:nvSpPr>
          <p:cNvPr id="17" name="title-417"/>
          <p:cNvSpPr txBox="1"/>
          <p:nvPr/>
        </p:nvSpPr>
        <p:spPr>
          <a:xfrm>
            <a:off x="762000" y="762000"/>
            <a:ext cx="16797338" cy="824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5670"/>
              </a:lnSpc>
              <a:buNone/>
            </a:pPr>
            <a:r>
              <a:rPr lang="en-US" sz="4200" kern="1200" spc="-118" dirty="0">
                <a:solidFill>
                  <a:srgbClr val="000000"/>
                </a:solidFill>
                <a:latin typeface="Poppins Medium" panose="00000600000000000000" pitchFamily="2" charset="0"/>
              </a:rPr>
              <a:t>项目四大核心支柱：学术深度与申请广度的完美结合</a:t>
            </a:r>
            <a:endParaRPr lang="en-US" sz="4200" dirty="0"/>
          </a:p>
        </p:txBody>
      </p:sp>
      <p:sp>
        <p:nvSpPr>
          <p:cNvPr id="18" name="subtitle-482"/>
          <p:cNvSpPr txBox="1"/>
          <p:nvPr/>
        </p:nvSpPr>
        <p:spPr>
          <a:xfrm>
            <a:off x="762000" y="1653480"/>
            <a:ext cx="1679733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我们为德国行定制了四大能力模块。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97ae7c9-d727-411d-9578-c7bf5832d4cb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itle-441"/>
          <p:cNvSpPr txBox="1"/>
          <p:nvPr/>
        </p:nvSpPr>
        <p:spPr>
          <a:xfrm>
            <a:off x="762000" y="971550"/>
            <a:ext cx="9729788" cy="18821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7020"/>
              </a:lnSpc>
              <a:buNone/>
            </a:pPr>
            <a:r>
              <a:rPr lang="en-US" sz="5400" kern="1200" spc="-151" dirty="0">
                <a:solidFill>
                  <a:srgbClr val="000000"/>
                </a:solidFill>
                <a:latin typeface="Poppins Medium" panose="00000600000000000000" pitchFamily="2" charset="0"/>
              </a:rPr>
              <a:t>莱茵之路：从法兰克福到慕尼黑的11天学术跃迁</a:t>
            </a:r>
            <a:endParaRPr lang="en-US" sz="5400" dirty="0"/>
          </a:p>
        </p:txBody>
      </p:sp>
      <p:sp>
        <p:nvSpPr>
          <p:cNvPr id="7" name="subtitle-428"/>
          <p:cNvSpPr txBox="1"/>
          <p:nvPr/>
        </p:nvSpPr>
        <p:spPr>
          <a:xfrm>
            <a:off x="11064255" y="971550"/>
            <a:ext cx="649128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本行程精心设计了由北向南的学术进化路径，确保学生逐步深化对德国教育体系的认知。</a:t>
            </a:r>
            <a:endParaRPr lang="en-US" sz="2100" dirty="0"/>
          </a:p>
        </p:txBody>
      </p:sp>
      <p:pic>
        <p:nvPicPr>
          <p:cNvPr id="8" name="gems4node-layer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74" y="4539704"/>
            <a:ext cx="16763851" cy="2601292"/>
          </a:xfrm>
          <a:prstGeom prst="rect">
            <a:avLst/>
          </a:prstGeom>
        </p:spPr>
      </p:pic>
      <p:sp>
        <p:nvSpPr>
          <p:cNvPr id="9" name="headingtext-diagram-TVL5U6-0-1"/>
          <p:cNvSpPr txBox="1"/>
          <p:nvPr/>
        </p:nvSpPr>
        <p:spPr>
          <a:xfrm>
            <a:off x="762000" y="7521997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启程与认知</a:t>
            </a:r>
            <a:endParaRPr lang="en-US" sz="2100" dirty="0"/>
          </a:p>
        </p:txBody>
      </p:sp>
      <p:sp>
        <p:nvSpPr>
          <p:cNvPr id="10" name="bodytext-diagram-TVL5U6-0-1"/>
          <p:cNvSpPr txBox="1"/>
          <p:nvPr/>
        </p:nvSpPr>
        <p:spPr>
          <a:xfrm>
            <a:off x="762000" y="7998247"/>
            <a:ext cx="39671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法兰克福大学学术课，初步接触申请咨询。</a:t>
            </a:r>
            <a:endParaRPr lang="en-US" sz="2100" dirty="0"/>
          </a:p>
        </p:txBody>
      </p:sp>
      <p:sp>
        <p:nvSpPr>
          <p:cNvPr id="11" name="headingtext-diagram-TVL5U6-1-2"/>
          <p:cNvSpPr txBox="1"/>
          <p:nvPr/>
        </p:nvSpPr>
        <p:spPr>
          <a:xfrm>
            <a:off x="5038725" y="7521997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学术钻研</a:t>
            </a:r>
            <a:endParaRPr lang="en-US" sz="2100" dirty="0"/>
          </a:p>
        </p:txBody>
      </p:sp>
      <p:sp>
        <p:nvSpPr>
          <p:cNvPr id="12" name="bodytext-diagram-TVL5U6-1-2"/>
          <p:cNvSpPr txBox="1"/>
          <p:nvPr/>
        </p:nvSpPr>
        <p:spPr>
          <a:xfrm>
            <a:off x="5038725" y="7998247"/>
            <a:ext cx="39671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柏林自由大学交流，探讨前沿科研课题。</a:t>
            </a:r>
            <a:endParaRPr lang="en-US" sz="2100" dirty="0"/>
          </a:p>
        </p:txBody>
      </p:sp>
      <p:sp>
        <p:nvSpPr>
          <p:cNvPr id="13" name="headingtext-diagram-TVL5U6-2-3"/>
          <p:cNvSpPr txBox="1"/>
          <p:nvPr/>
        </p:nvSpPr>
        <p:spPr>
          <a:xfrm>
            <a:off x="9315450" y="7521997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科创巅峰</a:t>
            </a:r>
            <a:endParaRPr lang="en-US" sz="2100" dirty="0"/>
          </a:p>
        </p:txBody>
      </p:sp>
      <p:sp>
        <p:nvSpPr>
          <p:cNvPr id="14" name="bodytext-diagram-TVL5U6-2-3"/>
          <p:cNvSpPr txBox="1"/>
          <p:nvPr/>
        </p:nvSpPr>
        <p:spPr>
          <a:xfrm>
            <a:off x="9315450" y="7998247"/>
            <a:ext cx="39671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慕尼黑TUM与LMU双校联动，冲刺申硕规划。</a:t>
            </a:r>
            <a:endParaRPr lang="en-US" sz="2100" dirty="0"/>
          </a:p>
        </p:txBody>
      </p:sp>
      <p:sp>
        <p:nvSpPr>
          <p:cNvPr id="15" name="headingtext-diagram-TVL5U6-3-4"/>
          <p:cNvSpPr txBox="1"/>
          <p:nvPr/>
        </p:nvSpPr>
        <p:spPr>
          <a:xfrm>
            <a:off x="13592175" y="7521997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总结起航</a:t>
            </a:r>
            <a:endParaRPr lang="en-US" sz="2100" dirty="0"/>
          </a:p>
        </p:txBody>
      </p:sp>
      <p:sp>
        <p:nvSpPr>
          <p:cNvPr id="16" name="bodytext-diagram-TVL5U6-3-4"/>
          <p:cNvSpPr txBox="1"/>
          <p:nvPr/>
        </p:nvSpPr>
        <p:spPr>
          <a:xfrm>
            <a:off x="13592175" y="7998247"/>
            <a:ext cx="39671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自由活动与告别晚宴，确认方案飞回中国。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4c9ec7e-d959-4e76-a7a4-c0e3ac39b4ae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itle-429"/>
          <p:cNvSpPr txBox="1"/>
          <p:nvPr/>
        </p:nvSpPr>
        <p:spPr>
          <a:xfrm>
            <a:off x="762000" y="762000"/>
            <a:ext cx="6738938" cy="824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4200" kern="1200" spc="-118" dirty="0">
                <a:solidFill>
                  <a:srgbClr val="000000"/>
                </a:solidFill>
                <a:latin typeface="Poppins Medium" panose="00000600000000000000" pitchFamily="2" charset="0"/>
              </a:rPr>
              <a:t>第一站：法兰克福大学</a:t>
            </a:r>
            <a:endParaRPr lang="en-US" sz="4200" dirty="0"/>
          </a:p>
        </p:txBody>
      </p:sp>
      <p:sp>
        <p:nvSpPr>
          <p:cNvPr id="7" name="subtitle-461"/>
          <p:cNvSpPr txBox="1"/>
          <p:nvPr/>
        </p:nvSpPr>
        <p:spPr>
          <a:xfrm>
            <a:off x="762000" y="1767780"/>
            <a:ext cx="67389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在金融之都法兰克福，学生将开启一段现代与传统交织的学术之旅</a:t>
            </a:r>
            <a:endParaRPr lang="en-US" sz="2100" dirty="0"/>
          </a:p>
        </p:txBody>
      </p:sp>
      <p:sp>
        <p:nvSpPr>
          <p:cNvPr id="8" name="node-diagram-Ehk2Kz-0"/>
          <p:cNvSpPr/>
          <p:nvPr/>
        </p:nvSpPr>
        <p:spPr>
          <a:xfrm>
            <a:off x="8229600" y="762000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sequencetext-diagram-Ehk2Kz-0"/>
          <p:cNvSpPr/>
          <p:nvPr/>
        </p:nvSpPr>
        <p:spPr>
          <a:xfrm>
            <a:off x="8553450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::before"/>
          <p:cNvSpPr txBox="1"/>
          <p:nvPr/>
        </p:nvSpPr>
        <p:spPr>
          <a:xfrm>
            <a:off x="8713589" y="1233488"/>
            <a:ext cx="289322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01</a:t>
            </a:r>
            <a:endParaRPr lang="en-US" sz="2100" dirty="0"/>
          </a:p>
        </p:txBody>
      </p:sp>
      <p:sp>
        <p:nvSpPr>
          <p:cNvPr id="11" name="headingtext-diagram-Ehk2Kz-0-1"/>
          <p:cNvSpPr txBox="1"/>
          <p:nvPr/>
        </p:nvSpPr>
        <p:spPr>
          <a:xfrm>
            <a:off x="8553450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学术课程</a:t>
            </a:r>
            <a:endParaRPr lang="en-US" sz="2100" dirty="0"/>
          </a:p>
        </p:txBody>
      </p:sp>
      <p:sp>
        <p:nvSpPr>
          <p:cNvPr id="12" name="bodytext-diagram-Ehk2Kz-0-1"/>
          <p:cNvSpPr txBox="1"/>
          <p:nvPr/>
        </p:nvSpPr>
        <p:spPr>
          <a:xfrm>
            <a:off x="8553450" y="243840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参加法兰克福大学定制学术体验课，讲解专业学术规范</a:t>
            </a:r>
            <a:endParaRPr lang="en-US" sz="1800" dirty="0"/>
          </a:p>
        </p:txBody>
      </p:sp>
      <p:sp>
        <p:nvSpPr>
          <p:cNvPr id="13" name="node-diagram-Ehk2Kz-1"/>
          <p:cNvSpPr/>
          <p:nvPr/>
        </p:nvSpPr>
        <p:spPr>
          <a:xfrm>
            <a:off x="12953926" y="76200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sequencetext-diagram-Ehk2Kz-1"/>
          <p:cNvSpPr/>
          <p:nvPr/>
        </p:nvSpPr>
        <p:spPr>
          <a:xfrm>
            <a:off x="13277776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::before"/>
          <p:cNvSpPr txBox="1"/>
          <p:nvPr/>
        </p:nvSpPr>
        <p:spPr>
          <a:xfrm>
            <a:off x="13403907" y="1233488"/>
            <a:ext cx="357336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02</a:t>
            </a:r>
            <a:endParaRPr lang="en-US" sz="2100" dirty="0"/>
          </a:p>
        </p:txBody>
      </p:sp>
      <p:sp>
        <p:nvSpPr>
          <p:cNvPr id="16" name="headingtext-diagram-Ehk2Kz-1-2"/>
          <p:cNvSpPr txBox="1"/>
          <p:nvPr/>
        </p:nvSpPr>
        <p:spPr>
          <a:xfrm>
            <a:off x="13277776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学长导航</a:t>
            </a:r>
            <a:endParaRPr lang="en-US" sz="2100" dirty="0"/>
          </a:p>
        </p:txBody>
      </p:sp>
      <p:sp>
        <p:nvSpPr>
          <p:cNvPr id="17" name="bodytext-diagram-Ehk2Kz-1-2"/>
          <p:cNvSpPr txBox="1"/>
          <p:nvPr/>
        </p:nvSpPr>
        <p:spPr>
          <a:xfrm>
            <a:off x="13277776" y="243840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精英学长分享留学生活经验，帮助快速适应德式思维</a:t>
            </a:r>
            <a:endParaRPr lang="en-US" sz="1800" dirty="0"/>
          </a:p>
        </p:txBody>
      </p:sp>
      <p:sp>
        <p:nvSpPr>
          <p:cNvPr id="18" name="node-diagram-Ehk2Kz-2"/>
          <p:cNvSpPr/>
          <p:nvPr/>
        </p:nvSpPr>
        <p:spPr>
          <a:xfrm>
            <a:off x="8229600" y="566544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equencetext-diagram-Ehk2Kz-2"/>
          <p:cNvSpPr/>
          <p:nvPr/>
        </p:nvSpPr>
        <p:spPr>
          <a:xfrm>
            <a:off x="8553450" y="598929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::before"/>
          <p:cNvSpPr txBox="1"/>
          <p:nvPr/>
        </p:nvSpPr>
        <p:spPr>
          <a:xfrm>
            <a:off x="8677721" y="6136928"/>
            <a:ext cx="361057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03</a:t>
            </a:r>
            <a:endParaRPr lang="en-US" sz="2100" dirty="0"/>
          </a:p>
        </p:txBody>
      </p:sp>
      <p:sp>
        <p:nvSpPr>
          <p:cNvPr id="21" name="headingtext-diagram-Ehk2Kz-2-3"/>
          <p:cNvSpPr txBox="1"/>
          <p:nvPr/>
        </p:nvSpPr>
        <p:spPr>
          <a:xfrm>
            <a:off x="8553450" y="682749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申请预检</a:t>
            </a:r>
            <a:endParaRPr lang="en-US" sz="2100" dirty="0"/>
          </a:p>
        </p:txBody>
      </p:sp>
      <p:sp>
        <p:nvSpPr>
          <p:cNvPr id="22" name="bodytext-diagram-Ehk2Kz-2-3"/>
          <p:cNvSpPr txBox="1"/>
          <p:nvPr/>
        </p:nvSpPr>
        <p:spPr>
          <a:xfrm>
            <a:off x="8553450" y="734184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进行申请条件评估，梳理GAP点，为后续行程打下基础</a:t>
            </a:r>
            <a:endParaRPr lang="en-US" sz="1800" dirty="0"/>
          </a:p>
        </p:txBody>
      </p:sp>
      <p:sp>
        <p:nvSpPr>
          <p:cNvPr id="23" name="node-diagram-Ehk2Kz-3"/>
          <p:cNvSpPr/>
          <p:nvPr/>
        </p:nvSpPr>
        <p:spPr>
          <a:xfrm>
            <a:off x="12953926" y="4773885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sequencetext-diagram-Ehk2Kz-3"/>
          <p:cNvSpPr/>
          <p:nvPr/>
        </p:nvSpPr>
        <p:spPr>
          <a:xfrm>
            <a:off x="13277776" y="5097735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::before"/>
          <p:cNvSpPr txBox="1"/>
          <p:nvPr/>
        </p:nvSpPr>
        <p:spPr>
          <a:xfrm>
            <a:off x="13396689" y="5245373"/>
            <a:ext cx="371698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04</a:t>
            </a:r>
            <a:endParaRPr lang="en-US" sz="2100" dirty="0"/>
          </a:p>
        </p:txBody>
      </p:sp>
      <p:sp>
        <p:nvSpPr>
          <p:cNvPr id="26" name="headingtext-diagram-Ehk2Kz-3-4"/>
          <p:cNvSpPr txBox="1"/>
          <p:nvPr/>
        </p:nvSpPr>
        <p:spPr>
          <a:xfrm>
            <a:off x="13277776" y="5935935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高端住宿</a:t>
            </a:r>
            <a:endParaRPr lang="en-US" sz="2100" dirty="0"/>
          </a:p>
        </p:txBody>
      </p:sp>
      <p:sp>
        <p:nvSpPr>
          <p:cNvPr id="27" name="bodytext-diagram-Ehk2Kz-3-4"/>
          <p:cNvSpPr txBox="1"/>
          <p:nvPr/>
        </p:nvSpPr>
        <p:spPr>
          <a:xfrm>
            <a:off x="13277776" y="6450285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全程入住Leonardo Royal Hotel Frankfurt，确保最佳休息环境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d2cef33-e9ef-4f6f-90c5-38e0d03f185a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itle-460"/>
          <p:cNvSpPr txBox="1"/>
          <p:nvPr/>
        </p:nvSpPr>
        <p:spPr>
          <a:xfrm>
            <a:off x="762000" y="762000"/>
            <a:ext cx="6738938" cy="1539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4200" kern="1200" spc="-118" dirty="0">
                <a:solidFill>
                  <a:srgbClr val="000000"/>
                </a:solidFill>
                <a:latin typeface="Poppins Medium" panose="00000600000000000000" pitchFamily="2" charset="0"/>
              </a:rPr>
              <a:t>第二站：柏林自由大学——在历史名城探索自由研究精神</a:t>
            </a:r>
            <a:endParaRPr lang="en-US" sz="4200" dirty="0"/>
          </a:p>
        </p:txBody>
      </p:sp>
      <p:sp>
        <p:nvSpPr>
          <p:cNvPr id="7" name="subtitle-495"/>
          <p:cNvSpPr txBox="1"/>
          <p:nvPr/>
        </p:nvSpPr>
        <p:spPr>
          <a:xfrm>
            <a:off x="762000" y="2487811"/>
            <a:ext cx="67389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柏林作为德国政治与文化中心，其高校以自由的学术氛围和深厚的人文底蕴见长。</a:t>
            </a:r>
            <a:endParaRPr lang="en-US" sz="2100" dirty="0"/>
          </a:p>
        </p:txBody>
      </p:sp>
      <p:sp>
        <p:nvSpPr>
          <p:cNvPr id="8" name="node-diagram-J67bPU-0"/>
          <p:cNvSpPr/>
          <p:nvPr/>
        </p:nvSpPr>
        <p:spPr>
          <a:xfrm>
            <a:off x="8229600" y="762000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sequencetext-diagram-J67bPU-0"/>
          <p:cNvSpPr/>
          <p:nvPr/>
        </p:nvSpPr>
        <p:spPr>
          <a:xfrm>
            <a:off x="8553450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::before"/>
          <p:cNvSpPr txBox="1"/>
          <p:nvPr/>
        </p:nvSpPr>
        <p:spPr>
          <a:xfrm>
            <a:off x="8713589" y="1233488"/>
            <a:ext cx="289322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01</a:t>
            </a:r>
            <a:endParaRPr lang="en-US" sz="2100" dirty="0"/>
          </a:p>
        </p:txBody>
      </p:sp>
      <p:sp>
        <p:nvSpPr>
          <p:cNvPr id="11" name="headingtext-diagram-J67bPU-0-1"/>
          <p:cNvSpPr txBox="1"/>
          <p:nvPr/>
        </p:nvSpPr>
        <p:spPr>
          <a:xfrm>
            <a:off x="8553450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深度走访</a:t>
            </a:r>
            <a:endParaRPr lang="en-US" sz="2100" dirty="0"/>
          </a:p>
        </p:txBody>
      </p:sp>
      <p:sp>
        <p:nvSpPr>
          <p:cNvPr id="12" name="bodytext-diagram-J67bPU-0-1"/>
          <p:cNvSpPr txBox="1"/>
          <p:nvPr/>
        </p:nvSpPr>
        <p:spPr>
          <a:xfrm>
            <a:off x="8553450" y="243840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进入柏林自由大学，探讨文理兼修的综合性研究路径。</a:t>
            </a:r>
            <a:endParaRPr lang="en-US" sz="1800" dirty="0"/>
          </a:p>
        </p:txBody>
      </p:sp>
      <p:sp>
        <p:nvSpPr>
          <p:cNvPr id="13" name="node-diagram-J67bPU-1"/>
          <p:cNvSpPr/>
          <p:nvPr/>
        </p:nvSpPr>
        <p:spPr>
          <a:xfrm>
            <a:off x="12953926" y="76200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sequencetext-diagram-J67bPU-1"/>
          <p:cNvSpPr/>
          <p:nvPr/>
        </p:nvSpPr>
        <p:spPr>
          <a:xfrm>
            <a:off x="13277776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::before"/>
          <p:cNvSpPr txBox="1"/>
          <p:nvPr/>
        </p:nvSpPr>
        <p:spPr>
          <a:xfrm>
            <a:off x="13403907" y="1233488"/>
            <a:ext cx="357336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02</a:t>
            </a:r>
            <a:endParaRPr lang="en-US" sz="2100" dirty="0"/>
          </a:p>
        </p:txBody>
      </p:sp>
      <p:sp>
        <p:nvSpPr>
          <p:cNvPr id="16" name="headingtext-diagram-J67bPU-1-2"/>
          <p:cNvSpPr txBox="1"/>
          <p:nvPr/>
        </p:nvSpPr>
        <p:spPr>
          <a:xfrm>
            <a:off x="13277776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咨询升级</a:t>
            </a:r>
            <a:endParaRPr lang="en-US" sz="2100" dirty="0"/>
          </a:p>
        </p:txBody>
      </p:sp>
      <p:sp>
        <p:nvSpPr>
          <p:cNvPr id="17" name="bodytext-diagram-J67bPU-1-2"/>
          <p:cNvSpPr txBox="1"/>
          <p:nvPr/>
        </p:nvSpPr>
        <p:spPr>
          <a:xfrm>
            <a:off x="13277776" y="2438400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针对学生个人背景，在柏林进行一对一的申请规划深化咨询。</a:t>
            </a:r>
            <a:endParaRPr lang="en-US" sz="1800" dirty="0"/>
          </a:p>
        </p:txBody>
      </p:sp>
      <p:sp>
        <p:nvSpPr>
          <p:cNvPr id="18" name="node-diagram-J67bPU-2"/>
          <p:cNvSpPr/>
          <p:nvPr/>
        </p:nvSpPr>
        <p:spPr>
          <a:xfrm>
            <a:off x="8229600" y="566544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equencetext-diagram-J67bPU-2"/>
          <p:cNvSpPr/>
          <p:nvPr/>
        </p:nvSpPr>
        <p:spPr>
          <a:xfrm>
            <a:off x="8553450" y="598929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::before"/>
          <p:cNvSpPr txBox="1"/>
          <p:nvPr/>
        </p:nvSpPr>
        <p:spPr>
          <a:xfrm>
            <a:off x="8677721" y="6136928"/>
            <a:ext cx="361057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03</a:t>
            </a:r>
            <a:endParaRPr lang="en-US" sz="2100" dirty="0"/>
          </a:p>
        </p:txBody>
      </p:sp>
      <p:sp>
        <p:nvSpPr>
          <p:cNvPr id="21" name="headingtext-diagram-J67bPU-2-3"/>
          <p:cNvSpPr txBox="1"/>
          <p:nvPr/>
        </p:nvSpPr>
        <p:spPr>
          <a:xfrm>
            <a:off x="8553450" y="682749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城市探索</a:t>
            </a:r>
            <a:endParaRPr lang="en-US" sz="2100" dirty="0"/>
          </a:p>
        </p:txBody>
      </p:sp>
      <p:sp>
        <p:nvSpPr>
          <p:cNvPr id="22" name="bodytext-diagram-J67bPU-2-3"/>
          <p:cNvSpPr txBox="1"/>
          <p:nvPr/>
        </p:nvSpPr>
        <p:spPr>
          <a:xfrm>
            <a:off x="8553450" y="7341840"/>
            <a:ext cx="3957638" cy="9963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在紧张的学术课之余，品尝柏林当地美食，入住The Base Berlin ONE体验德式现代生活。</a:t>
            </a:r>
            <a:endParaRPr lang="en-US" sz="1800" dirty="0"/>
          </a:p>
        </p:txBody>
      </p:sp>
      <p:sp>
        <p:nvSpPr>
          <p:cNvPr id="23" name="node-diagram-J67bPU-3"/>
          <p:cNvSpPr/>
          <p:nvPr/>
        </p:nvSpPr>
        <p:spPr>
          <a:xfrm>
            <a:off x="12953926" y="4773885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sequencetext-diagram-J67bPU-3"/>
          <p:cNvSpPr/>
          <p:nvPr/>
        </p:nvSpPr>
        <p:spPr>
          <a:xfrm>
            <a:off x="13277776" y="5097735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::before"/>
          <p:cNvSpPr txBox="1"/>
          <p:nvPr/>
        </p:nvSpPr>
        <p:spPr>
          <a:xfrm>
            <a:off x="13396689" y="5245373"/>
            <a:ext cx="371698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04</a:t>
            </a:r>
            <a:endParaRPr lang="en-US" sz="2100" dirty="0"/>
          </a:p>
        </p:txBody>
      </p:sp>
      <p:sp>
        <p:nvSpPr>
          <p:cNvPr id="26" name="headingtext-diagram-J67bPU-3-4"/>
          <p:cNvSpPr txBox="1"/>
          <p:nvPr/>
        </p:nvSpPr>
        <p:spPr>
          <a:xfrm>
            <a:off x="13277776" y="5935935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学术资源链</a:t>
            </a:r>
            <a:endParaRPr lang="en-US" sz="2100" dirty="0"/>
          </a:p>
        </p:txBody>
      </p:sp>
      <p:sp>
        <p:nvSpPr>
          <p:cNvPr id="27" name="bodytext-diagram-J67bPU-3-4"/>
          <p:cNvSpPr txBox="1"/>
          <p:nvPr/>
        </p:nvSpPr>
        <p:spPr>
          <a:xfrm>
            <a:off x="13277776" y="6450285"/>
            <a:ext cx="3957638" cy="6915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结识柏林地区的中国留学生社群，建立初级的海外学术人脉。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f47f1fb-fab0-4059-af5f-0a9d5c977152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itle-413"/>
          <p:cNvSpPr txBox="1"/>
          <p:nvPr/>
        </p:nvSpPr>
        <p:spPr>
          <a:xfrm>
            <a:off x="762000" y="762000"/>
            <a:ext cx="6738938" cy="1539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4200" kern="1200" spc="-118" dirty="0">
                <a:solidFill>
                  <a:srgbClr val="000000"/>
                </a:solidFill>
                <a:latin typeface="Poppins Medium" panose="00000600000000000000" pitchFamily="2" charset="0"/>
              </a:rPr>
              <a:t>第三站：慕尼黑双子星——理工与综合学科的科创巅峰</a:t>
            </a:r>
            <a:endParaRPr lang="en-US" sz="4200" dirty="0"/>
          </a:p>
        </p:txBody>
      </p:sp>
      <p:sp>
        <p:nvSpPr>
          <p:cNvPr id="7" name="subtitle-449"/>
          <p:cNvSpPr txBox="1"/>
          <p:nvPr/>
        </p:nvSpPr>
        <p:spPr>
          <a:xfrm>
            <a:off x="762000" y="2487811"/>
            <a:ext cx="67389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慕尼黑是德国科研密度最高的地区，TUM与LMU的组合代表了德国教育的最高水准。</a:t>
            </a:r>
            <a:endParaRPr lang="en-US" sz="2100" dirty="0"/>
          </a:p>
        </p:txBody>
      </p:sp>
      <p:sp>
        <p:nvSpPr>
          <p:cNvPr id="8" name="node-diagram-PPKnK9-0"/>
          <p:cNvSpPr/>
          <p:nvPr/>
        </p:nvSpPr>
        <p:spPr>
          <a:xfrm>
            <a:off x="8229600" y="762000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sequencetext-diagram-PPKnK9-0"/>
          <p:cNvSpPr/>
          <p:nvPr/>
        </p:nvSpPr>
        <p:spPr>
          <a:xfrm>
            <a:off x="8553450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::before"/>
          <p:cNvSpPr txBox="1"/>
          <p:nvPr/>
        </p:nvSpPr>
        <p:spPr>
          <a:xfrm>
            <a:off x="8713589" y="1233488"/>
            <a:ext cx="289322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01</a:t>
            </a:r>
            <a:endParaRPr lang="en-US" sz="2100" dirty="0"/>
          </a:p>
        </p:txBody>
      </p:sp>
      <p:sp>
        <p:nvSpPr>
          <p:cNvPr id="11" name="headingtext-diagram-PPKnK9-0-1"/>
          <p:cNvSpPr txBox="1"/>
          <p:nvPr/>
        </p:nvSpPr>
        <p:spPr>
          <a:xfrm>
            <a:off x="8553450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TUM理工之巅</a:t>
            </a:r>
            <a:endParaRPr lang="en-US" sz="2100" dirty="0"/>
          </a:p>
        </p:txBody>
      </p:sp>
      <p:sp>
        <p:nvSpPr>
          <p:cNvPr id="12" name="bodytext-diagram-PPKnK9-0-1"/>
          <p:cNvSpPr txBox="1"/>
          <p:nvPr/>
        </p:nvSpPr>
        <p:spPr>
          <a:xfrm>
            <a:off x="8553450" y="2438400"/>
            <a:ext cx="3957638" cy="9963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在慕尼黑理工大学参与科技前沿课程，了解德国工业4.0背景下的科研动态。</a:t>
            </a:r>
            <a:endParaRPr lang="en-US" sz="1800" dirty="0"/>
          </a:p>
        </p:txBody>
      </p:sp>
      <p:sp>
        <p:nvSpPr>
          <p:cNvPr id="13" name="node-diagram-PPKnK9-1"/>
          <p:cNvSpPr/>
          <p:nvPr/>
        </p:nvSpPr>
        <p:spPr>
          <a:xfrm>
            <a:off x="12954000" y="76200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sequencetext-diagram-PPKnK9-1"/>
          <p:cNvSpPr/>
          <p:nvPr/>
        </p:nvSpPr>
        <p:spPr>
          <a:xfrm>
            <a:off x="13277850" y="108585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::before"/>
          <p:cNvSpPr txBox="1"/>
          <p:nvPr/>
        </p:nvSpPr>
        <p:spPr>
          <a:xfrm>
            <a:off x="13403982" y="1233488"/>
            <a:ext cx="357336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02</a:t>
            </a:r>
            <a:endParaRPr lang="en-US" sz="2100" dirty="0"/>
          </a:p>
        </p:txBody>
      </p:sp>
      <p:sp>
        <p:nvSpPr>
          <p:cNvPr id="16" name="headingtext-diagram-PPKnK9-1-2"/>
          <p:cNvSpPr txBox="1"/>
          <p:nvPr/>
        </p:nvSpPr>
        <p:spPr>
          <a:xfrm>
            <a:off x="13277850" y="192405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LMU精英传承</a:t>
            </a:r>
            <a:endParaRPr lang="en-US" sz="2100" dirty="0"/>
          </a:p>
        </p:txBody>
      </p:sp>
      <p:sp>
        <p:nvSpPr>
          <p:cNvPr id="17" name="bodytext-diagram-PPKnK9-1-2"/>
          <p:cNvSpPr txBox="1"/>
          <p:nvPr/>
        </p:nvSpPr>
        <p:spPr>
          <a:xfrm>
            <a:off x="13277850" y="2438400"/>
            <a:ext cx="3957638" cy="9963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在慕尼黑大学感受作为诺贝尔奖摇篮的学术严谨性，进行高强度的学术套磁模拟。</a:t>
            </a:r>
            <a:endParaRPr lang="en-US" sz="1800" dirty="0"/>
          </a:p>
        </p:txBody>
      </p:sp>
      <p:sp>
        <p:nvSpPr>
          <p:cNvPr id="18" name="node-diagram-PPKnK9-2"/>
          <p:cNvSpPr/>
          <p:nvPr/>
        </p:nvSpPr>
        <p:spPr>
          <a:xfrm>
            <a:off x="8229600" y="5665440"/>
            <a:ext cx="4533900" cy="3838575"/>
          </a:xfrm>
          <a:prstGeom prst="roundRect">
            <a:avLst>
              <a:gd name="adj" fmla="val 496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equencetext-diagram-PPKnK9-2"/>
          <p:cNvSpPr/>
          <p:nvPr/>
        </p:nvSpPr>
        <p:spPr>
          <a:xfrm>
            <a:off x="8553450" y="5989290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::before"/>
          <p:cNvSpPr txBox="1"/>
          <p:nvPr/>
        </p:nvSpPr>
        <p:spPr>
          <a:xfrm>
            <a:off x="8677721" y="6136928"/>
            <a:ext cx="361057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03</a:t>
            </a:r>
            <a:endParaRPr lang="en-US" sz="2100" dirty="0"/>
          </a:p>
        </p:txBody>
      </p:sp>
      <p:sp>
        <p:nvSpPr>
          <p:cNvPr id="21" name="headingtext-diagram-PPKnK9-2-3"/>
          <p:cNvSpPr txBox="1"/>
          <p:nvPr/>
        </p:nvSpPr>
        <p:spPr>
          <a:xfrm>
            <a:off x="8553450" y="6827490"/>
            <a:ext cx="39576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双校实战</a:t>
            </a:r>
            <a:endParaRPr lang="en-US" sz="2100" dirty="0"/>
          </a:p>
        </p:txBody>
      </p:sp>
      <p:sp>
        <p:nvSpPr>
          <p:cNvPr id="22" name="bodytext-diagram-PPKnK9-2-3"/>
          <p:cNvSpPr txBox="1"/>
          <p:nvPr/>
        </p:nvSpPr>
        <p:spPr>
          <a:xfrm>
            <a:off x="8553450" y="7341840"/>
            <a:ext cx="3957638" cy="9963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连续多日的学姐学长分享会，覆盖医学、理学、工学等多个热门专业的申请干货。</a:t>
            </a:r>
            <a:endParaRPr lang="en-US" sz="1800" dirty="0"/>
          </a:p>
        </p:txBody>
      </p:sp>
      <p:sp>
        <p:nvSpPr>
          <p:cNvPr id="23" name="node-diagram-PPKnK9-3"/>
          <p:cNvSpPr/>
          <p:nvPr/>
        </p:nvSpPr>
        <p:spPr>
          <a:xfrm>
            <a:off x="12954000" y="4773885"/>
            <a:ext cx="4533900" cy="4733925"/>
          </a:xfrm>
          <a:prstGeom prst="roundRect">
            <a:avLst>
              <a:gd name="adj" fmla="val 420"/>
            </a:avLst>
          </a:prstGeom>
          <a:solidFill>
            <a:srgbClr val="FFFFFF">
              <a:alpha val="0"/>
            </a:srgbClr>
          </a:solidFill>
          <a:ln w="19050">
            <a:solidFill>
              <a:srgbClr val="4D535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sequencetext-diagram-PPKnK9-3"/>
          <p:cNvSpPr/>
          <p:nvPr/>
        </p:nvSpPr>
        <p:spPr>
          <a:xfrm>
            <a:off x="13277850" y="5097735"/>
            <a:ext cx="609600" cy="609600"/>
          </a:xfrm>
          <a:prstGeom prst="roundRect">
            <a:avLst>
              <a:gd name="adj" fmla="val 3125"/>
            </a:avLst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::before"/>
          <p:cNvSpPr txBox="1"/>
          <p:nvPr/>
        </p:nvSpPr>
        <p:spPr>
          <a:xfrm>
            <a:off x="13396764" y="5245373"/>
            <a:ext cx="371698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kern="1200" spc="-44" dirty="0">
                <a:solidFill>
                  <a:srgbClr val="FFFFFF"/>
                </a:solidFill>
                <a:latin typeface="Poppins" panose="00000500000000000000" pitchFamily="2" charset="0"/>
              </a:rPr>
              <a:t>04</a:t>
            </a:r>
            <a:endParaRPr lang="en-US" sz="2100" dirty="0"/>
          </a:p>
        </p:txBody>
      </p:sp>
      <p:sp>
        <p:nvSpPr>
          <p:cNvPr id="26" name="headingtext-diagram-PPKnK9-3-4"/>
          <p:cNvSpPr txBox="1"/>
          <p:nvPr/>
        </p:nvSpPr>
        <p:spPr>
          <a:xfrm>
            <a:off x="13277850" y="5935935"/>
            <a:ext cx="30622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博物馆研学</a:t>
            </a:r>
            <a:endParaRPr lang="en-US" sz="2100" dirty="0"/>
          </a:p>
        </p:txBody>
      </p:sp>
      <p:sp>
        <p:nvSpPr>
          <p:cNvPr id="27" name="bodytext-diagram-PPKnK9-3-4"/>
          <p:cNvSpPr txBox="1"/>
          <p:nvPr/>
        </p:nvSpPr>
        <p:spPr>
          <a:xfrm>
            <a:off x="13277850" y="6450285"/>
            <a:ext cx="3062288" cy="9963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实地考察德意志博物馆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与巴伐利亚国立博物馆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kern="1200" spc="34" dirty="0">
                <a:solidFill>
                  <a:srgbClr val="000000"/>
                </a:solidFill>
                <a:latin typeface="Inter" panose="02000503000000020004" pitchFamily="2" charset="0"/>
              </a:rPr>
              <a:t>，见证科技文明的发展脉络。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9cbe865-e777-446f-9b0d-1fdd087ca5aa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itle-435"/>
          <p:cNvSpPr txBox="1"/>
          <p:nvPr/>
        </p:nvSpPr>
        <p:spPr>
          <a:xfrm>
            <a:off x="762000" y="1309688"/>
            <a:ext cx="12225338" cy="21964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8250"/>
              </a:lnSpc>
              <a:buNone/>
            </a:pPr>
            <a:r>
              <a:rPr lang="en-US" sz="6600" kern="1200" spc="-185" dirty="0">
                <a:solidFill>
                  <a:srgbClr val="000000"/>
                </a:solidFill>
                <a:latin typeface="Poppins Medium" panose="00000600000000000000" pitchFamily="2" charset="0"/>
              </a:rPr>
              <a:t>莱茵之路：11天德国名校学术深度参访行程</a:t>
            </a:r>
            <a:endParaRPr lang="en-US" sz="6600" dirty="0"/>
          </a:p>
        </p:txBody>
      </p:sp>
      <p:sp>
        <p:nvSpPr>
          <p:cNvPr id="7" name="label-455"/>
          <p:cNvSpPr txBox="1"/>
          <p:nvPr/>
        </p:nvSpPr>
        <p:spPr>
          <a:xfrm>
            <a:off x="762000" y="762000"/>
            <a:ext cx="947737" cy="4248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1167"/>
                </a:solidFill>
                <a:latin typeface="Inter" panose="02000503000000020004" pitchFamily="2" charset="0"/>
              </a:rPr>
              <a:t>参访行程</a:t>
            </a:r>
            <a:endParaRPr lang="en-US" sz="1800" dirty="0"/>
          </a:p>
        </p:txBody>
      </p:sp>
      <p:pic>
        <p:nvPicPr>
          <p:cNvPr id="8" name="timelinecomponenthorizontal4node-Layer_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233913"/>
            <a:ext cx="18288000" cy="952500"/>
          </a:xfrm>
          <a:prstGeom prst="rect">
            <a:avLst/>
          </a:prstGeom>
        </p:spPr>
      </p:pic>
      <p:sp>
        <p:nvSpPr>
          <p:cNvPr id="9" name="svg-element-holder-0-data-driventext-diagram-Jy4bIS-0-1"/>
          <p:cNvSpPr txBox="1"/>
          <p:nvPr/>
        </p:nvSpPr>
        <p:spPr>
          <a:xfrm>
            <a:off x="649560" y="5270078"/>
            <a:ext cx="976312" cy="4629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40"/>
              </a:lnSpc>
              <a:buNone/>
            </a:pPr>
            <a:r>
              <a:rPr 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Day 1-3</a:t>
            </a:r>
            <a:endParaRPr lang="en-US" sz="2100" dirty="0"/>
          </a:p>
        </p:txBody>
      </p:sp>
      <p:sp>
        <p:nvSpPr>
          <p:cNvPr id="10" name="svg-element-holder-1-data-driventext-diagram-Jy4bIS-1-2"/>
          <p:cNvSpPr txBox="1"/>
          <p:nvPr/>
        </p:nvSpPr>
        <p:spPr>
          <a:xfrm>
            <a:off x="4864373" y="5270078"/>
            <a:ext cx="1062038" cy="4629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840"/>
              </a:lnSpc>
              <a:buNone/>
            </a:pPr>
            <a:r>
              <a:rPr 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Day 4-5</a:t>
            </a:r>
            <a:endParaRPr lang="en-US" sz="2100" dirty="0"/>
          </a:p>
        </p:txBody>
      </p:sp>
      <p:sp>
        <p:nvSpPr>
          <p:cNvPr id="11" name="svg-element-holder-2-data-driventext-diagram-Jy4bIS-2-3"/>
          <p:cNvSpPr txBox="1"/>
          <p:nvPr/>
        </p:nvSpPr>
        <p:spPr>
          <a:xfrm>
            <a:off x="9079185" y="5270078"/>
            <a:ext cx="1147763" cy="4629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840"/>
              </a:lnSpc>
              <a:buNone/>
            </a:pPr>
            <a:r>
              <a:rPr 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Day 6-10</a:t>
            </a:r>
            <a:endParaRPr lang="en-US" sz="2100" dirty="0"/>
          </a:p>
        </p:txBody>
      </p:sp>
      <p:sp>
        <p:nvSpPr>
          <p:cNvPr id="12" name="spanPrefix-452"/>
          <p:cNvSpPr txBox="1"/>
          <p:nvPr/>
        </p:nvSpPr>
        <p:spPr>
          <a:xfrm>
            <a:off x="13293998" y="5403428"/>
            <a:ext cx="309563" cy="2914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1420"/>
              </a:lnSpc>
              <a:buNone/>
            </a:pPr>
            <a:r>
              <a:rPr lang="en-US" sz="105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Day </a:t>
            </a:r>
            <a:endParaRPr lang="en-US" sz="1050" dirty="0"/>
          </a:p>
        </p:txBody>
      </p:sp>
      <p:sp>
        <p:nvSpPr>
          <p:cNvPr id="13" name="spanMainText-429"/>
          <p:cNvSpPr txBox="1"/>
          <p:nvPr/>
        </p:nvSpPr>
        <p:spPr>
          <a:xfrm>
            <a:off x="13566725" y="5260553"/>
            <a:ext cx="195263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840"/>
              </a:lnSpc>
              <a:buNone/>
            </a:pPr>
            <a:r>
              <a:rPr lang="en-US" sz="2100" kern="1200" spc="-44" dirty="0">
                <a:solidFill>
                  <a:srgbClr val="000000"/>
                </a:solidFill>
                <a:latin typeface="Poppins" panose="00000500000000000000" pitchFamily="2" charset="0"/>
              </a:rPr>
              <a:t>11</a:t>
            </a:r>
            <a:endParaRPr lang="en-US" sz="2100" dirty="0"/>
          </a:p>
        </p:txBody>
      </p:sp>
      <p:sp>
        <p:nvSpPr>
          <p:cNvPr id="14" name="headingtext-diagram-Jy4bIS-0-1"/>
          <p:cNvSpPr txBox="1"/>
          <p:nvPr/>
        </p:nvSpPr>
        <p:spPr>
          <a:xfrm>
            <a:off x="762000" y="6567413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法兰克福学术初探</a:t>
            </a:r>
            <a:endParaRPr lang="en-US" sz="2100" dirty="0"/>
          </a:p>
        </p:txBody>
      </p:sp>
      <p:sp>
        <p:nvSpPr>
          <p:cNvPr id="15" name="-414"/>
          <p:cNvSpPr txBox="1"/>
          <p:nvPr/>
        </p:nvSpPr>
        <p:spPr>
          <a:xfrm>
            <a:off x="990600" y="7119863"/>
            <a:ext cx="37385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抵达法兰克福，市区游览及欢迎晚宴</a:t>
            </a:r>
            <a:endParaRPr lang="en-US" sz="2100" dirty="0"/>
          </a:p>
        </p:txBody>
      </p:sp>
      <p:sp>
        <p:nvSpPr>
          <p:cNvPr id="16" name="::after"/>
          <p:cNvSpPr txBox="1"/>
          <p:nvPr/>
        </p:nvSpPr>
        <p:spPr>
          <a:xfrm>
            <a:off x="738188" y="7096051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17" name="-434"/>
          <p:cNvSpPr txBox="1"/>
          <p:nvPr/>
        </p:nvSpPr>
        <p:spPr>
          <a:xfrm>
            <a:off x="990600" y="7916838"/>
            <a:ext cx="373856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法兰克福大学学术体验及咨询</a:t>
            </a:r>
            <a:endParaRPr lang="en-US" sz="2100" dirty="0"/>
          </a:p>
        </p:txBody>
      </p:sp>
      <p:sp>
        <p:nvSpPr>
          <p:cNvPr id="18" name="::after"/>
          <p:cNvSpPr txBox="1"/>
          <p:nvPr/>
        </p:nvSpPr>
        <p:spPr>
          <a:xfrm>
            <a:off x="738188" y="7893025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19" name="headingtext-diagram-Jy4bIS-1-2"/>
          <p:cNvSpPr txBox="1"/>
          <p:nvPr/>
        </p:nvSpPr>
        <p:spPr>
          <a:xfrm>
            <a:off x="5038725" y="6567413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柏林自由大学研学</a:t>
            </a:r>
            <a:endParaRPr lang="en-US" sz="2100" dirty="0"/>
          </a:p>
        </p:txBody>
      </p:sp>
      <p:sp>
        <p:nvSpPr>
          <p:cNvPr id="20" name="-414"/>
          <p:cNvSpPr txBox="1"/>
          <p:nvPr/>
        </p:nvSpPr>
        <p:spPr>
          <a:xfrm>
            <a:off x="5267325" y="7119863"/>
            <a:ext cx="37385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柏林自由大学体验课及学长分享</a:t>
            </a:r>
            <a:endParaRPr lang="en-US" sz="2100" dirty="0"/>
          </a:p>
        </p:txBody>
      </p:sp>
      <p:sp>
        <p:nvSpPr>
          <p:cNvPr id="21" name="::after"/>
          <p:cNvSpPr txBox="1"/>
          <p:nvPr/>
        </p:nvSpPr>
        <p:spPr>
          <a:xfrm>
            <a:off x="5014913" y="7096051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22" name="-458"/>
          <p:cNvSpPr txBox="1"/>
          <p:nvPr/>
        </p:nvSpPr>
        <p:spPr>
          <a:xfrm>
            <a:off x="5267325" y="7916838"/>
            <a:ext cx="373856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申请咨询及柏林特色美食体验</a:t>
            </a:r>
            <a:endParaRPr lang="en-US" sz="2100" dirty="0"/>
          </a:p>
        </p:txBody>
      </p:sp>
      <p:sp>
        <p:nvSpPr>
          <p:cNvPr id="23" name="::after"/>
          <p:cNvSpPr txBox="1"/>
          <p:nvPr/>
        </p:nvSpPr>
        <p:spPr>
          <a:xfrm>
            <a:off x="5014913" y="7893025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24" name="headingtext-diagram-Jy4bIS-2-3"/>
          <p:cNvSpPr txBox="1"/>
          <p:nvPr/>
        </p:nvSpPr>
        <p:spPr>
          <a:xfrm>
            <a:off x="9315450" y="6567413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慕尼黑科创之旅</a:t>
            </a:r>
            <a:endParaRPr lang="en-US" sz="2100" dirty="0"/>
          </a:p>
        </p:txBody>
      </p:sp>
      <p:sp>
        <p:nvSpPr>
          <p:cNvPr id="25" name="-410"/>
          <p:cNvSpPr txBox="1"/>
          <p:nvPr/>
        </p:nvSpPr>
        <p:spPr>
          <a:xfrm>
            <a:off x="9544050" y="7119863"/>
            <a:ext cx="37385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参访慕尼黑理工大学与慕尼黑大学</a:t>
            </a:r>
            <a:endParaRPr lang="en-US" sz="2100" dirty="0"/>
          </a:p>
        </p:txBody>
      </p:sp>
      <p:sp>
        <p:nvSpPr>
          <p:cNvPr id="26" name="::after"/>
          <p:cNvSpPr txBox="1"/>
          <p:nvPr/>
        </p:nvSpPr>
        <p:spPr>
          <a:xfrm>
            <a:off x="9291638" y="7096051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27" name="-471"/>
          <p:cNvSpPr txBox="1"/>
          <p:nvPr/>
        </p:nvSpPr>
        <p:spPr>
          <a:xfrm>
            <a:off x="9544050" y="7916838"/>
            <a:ext cx="373856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博物馆游览及深度申请咨询</a:t>
            </a:r>
            <a:endParaRPr lang="en-US" sz="2100" dirty="0"/>
          </a:p>
        </p:txBody>
      </p:sp>
      <p:sp>
        <p:nvSpPr>
          <p:cNvPr id="28" name="::after"/>
          <p:cNvSpPr txBox="1"/>
          <p:nvPr/>
        </p:nvSpPr>
        <p:spPr>
          <a:xfrm>
            <a:off x="9291638" y="7893025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29" name="headingtext-diagram-Jy4bIS-3-4"/>
          <p:cNvSpPr txBox="1"/>
          <p:nvPr/>
        </p:nvSpPr>
        <p:spPr>
          <a:xfrm>
            <a:off x="13592175" y="6567413"/>
            <a:ext cx="3967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归程</a:t>
            </a:r>
            <a:endParaRPr lang="en-US" sz="2100" dirty="0"/>
          </a:p>
        </p:txBody>
      </p:sp>
      <p:sp>
        <p:nvSpPr>
          <p:cNvPr id="30" name="-421"/>
          <p:cNvSpPr txBox="1"/>
          <p:nvPr/>
        </p:nvSpPr>
        <p:spPr>
          <a:xfrm>
            <a:off x="13820775" y="7119863"/>
            <a:ext cx="373856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乘坐火车前往法兰克福机场</a:t>
            </a:r>
            <a:endParaRPr lang="en-US" sz="2100" dirty="0"/>
          </a:p>
        </p:txBody>
      </p:sp>
      <p:sp>
        <p:nvSpPr>
          <p:cNvPr id="31" name="::after"/>
          <p:cNvSpPr txBox="1"/>
          <p:nvPr/>
        </p:nvSpPr>
        <p:spPr>
          <a:xfrm>
            <a:off x="13568363" y="7096051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  <p:sp>
        <p:nvSpPr>
          <p:cNvPr id="32" name="-454"/>
          <p:cNvSpPr txBox="1"/>
          <p:nvPr/>
        </p:nvSpPr>
        <p:spPr>
          <a:xfrm>
            <a:off x="13820775" y="7575500"/>
            <a:ext cx="373856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启程返航</a:t>
            </a:r>
            <a:endParaRPr lang="en-US" sz="2100" dirty="0"/>
          </a:p>
        </p:txBody>
      </p:sp>
      <p:sp>
        <p:nvSpPr>
          <p:cNvPr id="33" name="::after"/>
          <p:cNvSpPr txBox="1"/>
          <p:nvPr/>
        </p:nvSpPr>
        <p:spPr>
          <a:xfrm>
            <a:off x="13568363" y="7551688"/>
            <a:ext cx="189756" cy="480402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•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a735f8-1229-4044-a1f9-081a177780c6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itle-459"/>
          <p:cNvSpPr txBox="1"/>
          <p:nvPr/>
        </p:nvSpPr>
        <p:spPr>
          <a:xfrm>
            <a:off x="762000" y="762000"/>
            <a:ext cx="5824538" cy="324421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8250"/>
              </a:lnSpc>
              <a:buNone/>
            </a:pPr>
            <a:r>
              <a:rPr lang="en-US" sz="6600" kern="1200" spc="-185" dirty="0">
                <a:solidFill>
                  <a:srgbClr val="000000"/>
                </a:solidFill>
                <a:latin typeface="Poppins Medium" panose="00000600000000000000" pitchFamily="2" charset="0"/>
              </a:rPr>
              <a:t>高标准项目保障：透明预算与专业的后勤支持</a:t>
            </a:r>
            <a:endParaRPr lang="en-US" sz="6600" dirty="0"/>
          </a:p>
        </p:txBody>
      </p:sp>
      <p:sp>
        <p:nvSpPr>
          <p:cNvPr id="7" name="subtitle-433"/>
          <p:cNvSpPr txBox="1"/>
          <p:nvPr/>
        </p:nvSpPr>
        <p:spPr>
          <a:xfrm>
            <a:off x="762000" y="4191000"/>
            <a:ext cx="5824538" cy="9391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3290"/>
              </a:lnSpc>
              <a:buNone/>
            </a:pPr>
            <a:r>
              <a:rPr lang="en-US" sz="2700" kern="1200" spc="51" dirty="0">
                <a:solidFill>
                  <a:srgbClr val="4D535C"/>
                </a:solidFill>
                <a:latin typeface="Inter" panose="02000503000000020004" pitchFamily="2" charset="0"/>
              </a:rPr>
              <a:t>我们致力于为每位学生提供无忧的学术之旅，预算透明，服务极致。</a:t>
            </a:r>
            <a:endParaRPr lang="en-US" sz="2700" dirty="0"/>
          </a:p>
        </p:txBody>
      </p:sp>
      <p:sp>
        <p:nvSpPr>
          <p:cNvPr id="8" name="table_cell-diagram-UsfAHl-0-0"/>
          <p:cNvSpPr/>
          <p:nvPr/>
        </p:nvSpPr>
        <p:spPr>
          <a:xfrm>
            <a:off x="7315200" y="762000"/>
            <a:ext cx="1343025" cy="18954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7315200" y="2647950"/>
            <a:ext cx="1343025" cy="952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7315200" y="762000"/>
            <a:ext cx="9525" cy="18954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headingtext-diagram-UsfAHl-table-cell-0-0-1"/>
          <p:cNvSpPr txBox="1"/>
          <p:nvPr/>
        </p:nvSpPr>
        <p:spPr>
          <a:xfrm>
            <a:off x="7515225" y="1308497"/>
            <a:ext cx="995363" cy="9010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FFFFFF"/>
                </a:solidFill>
                <a:latin typeface="Poppins Medium" panose="00000600000000000000" pitchFamily="2" charset="0"/>
              </a:rPr>
              <a:t>费用类别</a:t>
            </a:r>
            <a:endParaRPr lang="en-US" sz="2100" dirty="0"/>
          </a:p>
        </p:txBody>
      </p:sp>
      <p:sp>
        <p:nvSpPr>
          <p:cNvPr id="12" name="table_cell-diagram-UsfAHl-0-1"/>
          <p:cNvSpPr/>
          <p:nvPr/>
        </p:nvSpPr>
        <p:spPr>
          <a:xfrm>
            <a:off x="8672438" y="762000"/>
            <a:ext cx="4953000" cy="18954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8672438" y="2647950"/>
            <a:ext cx="4953000" cy="952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8672438" y="762000"/>
            <a:ext cx="9525" cy="18954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headingtext-diagram-UsfAHl-table-cell-0-1-1"/>
          <p:cNvSpPr txBox="1"/>
          <p:nvPr/>
        </p:nvSpPr>
        <p:spPr>
          <a:xfrm>
            <a:off x="10379422" y="1508522"/>
            <a:ext cx="158591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FFFFFF"/>
                </a:solidFill>
                <a:latin typeface="Poppins Medium" panose="00000600000000000000" pitchFamily="2" charset="0"/>
              </a:rPr>
              <a:t>详细包含内容</a:t>
            </a:r>
            <a:endParaRPr lang="en-US" sz="2100" dirty="0"/>
          </a:p>
        </p:txBody>
      </p:sp>
      <p:sp>
        <p:nvSpPr>
          <p:cNvPr id="16" name="table_cell-diagram-UsfAHl-0-2"/>
          <p:cNvSpPr/>
          <p:nvPr/>
        </p:nvSpPr>
        <p:spPr>
          <a:xfrm>
            <a:off x="13632284" y="762000"/>
            <a:ext cx="3876675" cy="1895475"/>
          </a:xfrm>
          <a:prstGeom prst="rect">
            <a:avLst/>
          </a:prstGeom>
          <a:solidFill>
            <a:srgbClr val="1B1167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headingtext-diagram-UsfAHl-table-cell-0-2-1"/>
          <p:cNvSpPr txBox="1"/>
          <p:nvPr/>
        </p:nvSpPr>
        <p:spPr>
          <a:xfrm>
            <a:off x="15319846" y="1508522"/>
            <a:ext cx="5476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FFFFFF"/>
                </a:solidFill>
                <a:latin typeface="Poppins Medium" panose="00000600000000000000" pitchFamily="2" charset="0"/>
              </a:rPr>
              <a:t>备注</a:t>
            </a:r>
            <a:endParaRPr lang="en-US" sz="2100" dirty="0"/>
          </a:p>
        </p:txBody>
      </p:sp>
      <p:sp>
        <p:nvSpPr>
          <p:cNvPr id="18" name="table_cell-diagram-UsfAHl-1-0"/>
          <p:cNvSpPr/>
          <p:nvPr/>
        </p:nvSpPr>
        <p:spPr>
          <a:xfrm>
            <a:off x="7315200" y="2664693"/>
            <a:ext cx="1343025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7315200" y="4360143"/>
            <a:ext cx="1343025" cy="952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7315200" y="2664693"/>
            <a:ext cx="9525" cy="17049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bodytext-diagram-UsfAHl-table-cell-1-0-2"/>
          <p:cNvSpPr txBox="1"/>
          <p:nvPr/>
        </p:nvSpPr>
        <p:spPr>
          <a:xfrm>
            <a:off x="7515225" y="3176067"/>
            <a:ext cx="9953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项目费用</a:t>
            </a:r>
            <a:endParaRPr lang="en-US" sz="2100" dirty="0"/>
          </a:p>
        </p:txBody>
      </p:sp>
      <p:sp>
        <p:nvSpPr>
          <p:cNvPr id="22" name="table_cell-diagram-UsfAHl-1-1"/>
          <p:cNvSpPr/>
          <p:nvPr/>
        </p:nvSpPr>
        <p:spPr>
          <a:xfrm>
            <a:off x="8672438" y="2664693"/>
            <a:ext cx="4953000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8672438" y="4360143"/>
            <a:ext cx="4953000" cy="952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8672438" y="2664693"/>
            <a:ext cx="9525" cy="17049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bodytext-diagram-UsfAHl-table-cell-1-1-2"/>
          <p:cNvSpPr txBox="1"/>
          <p:nvPr/>
        </p:nvSpPr>
        <p:spPr>
          <a:xfrm>
            <a:off x="10384780" y="3346772"/>
            <a:ext cx="157638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28,000 RMB</a:t>
            </a:r>
            <a:endParaRPr lang="en-US" sz="2100" dirty="0"/>
          </a:p>
        </p:txBody>
      </p:sp>
      <p:sp>
        <p:nvSpPr>
          <p:cNvPr id="26" name="table_cell-diagram-UsfAHl-1-2"/>
          <p:cNvSpPr/>
          <p:nvPr/>
        </p:nvSpPr>
        <p:spPr>
          <a:xfrm>
            <a:off x="13632284" y="2664693"/>
            <a:ext cx="3876675" cy="170497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bodytext-diagram-UsfAHl-table-cell-1-2-2"/>
          <p:cNvSpPr txBox="1"/>
          <p:nvPr/>
        </p:nvSpPr>
        <p:spPr>
          <a:xfrm>
            <a:off x="13832309" y="3176067"/>
            <a:ext cx="352901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10晚品牌酒店住宿+4次正式晚宴</a:t>
            </a:r>
            <a:endParaRPr lang="en-US" sz="2100" dirty="0"/>
          </a:p>
        </p:txBody>
      </p:sp>
      <p:sp>
        <p:nvSpPr>
          <p:cNvPr id="28" name="table_cell-diagram-UsfAHl-2-0"/>
          <p:cNvSpPr/>
          <p:nvPr/>
        </p:nvSpPr>
        <p:spPr>
          <a:xfrm>
            <a:off x="7315200" y="4379714"/>
            <a:ext cx="1343025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7315200" y="6075164"/>
            <a:ext cx="1343025" cy="952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0" name="Shape 28"/>
          <p:cNvSpPr/>
          <p:nvPr/>
        </p:nvSpPr>
        <p:spPr>
          <a:xfrm>
            <a:off x="7315200" y="4379714"/>
            <a:ext cx="9525" cy="17049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1" name="bodytext-diagram-UsfAHl-table-cell-2-0-3"/>
          <p:cNvSpPr txBox="1"/>
          <p:nvPr/>
        </p:nvSpPr>
        <p:spPr>
          <a:xfrm>
            <a:off x="7515225" y="4891088"/>
            <a:ext cx="9953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学术资源</a:t>
            </a:r>
            <a:endParaRPr lang="en-US" sz="2100" dirty="0"/>
          </a:p>
        </p:txBody>
      </p:sp>
      <p:sp>
        <p:nvSpPr>
          <p:cNvPr id="32" name="table_cell-diagram-UsfAHl-2-1"/>
          <p:cNvSpPr/>
          <p:nvPr/>
        </p:nvSpPr>
        <p:spPr>
          <a:xfrm>
            <a:off x="8672438" y="4379714"/>
            <a:ext cx="4953000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3" name="Shape 31"/>
          <p:cNvSpPr/>
          <p:nvPr/>
        </p:nvSpPr>
        <p:spPr>
          <a:xfrm>
            <a:off x="8672438" y="6075164"/>
            <a:ext cx="4953000" cy="952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4" name="Shape 32"/>
          <p:cNvSpPr/>
          <p:nvPr/>
        </p:nvSpPr>
        <p:spPr>
          <a:xfrm>
            <a:off x="8672438" y="4379714"/>
            <a:ext cx="9525" cy="17049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5" name="bodytext-diagram-UsfAHl-table-cell-2-1-3"/>
          <p:cNvSpPr txBox="1"/>
          <p:nvPr/>
        </p:nvSpPr>
        <p:spPr>
          <a:xfrm>
            <a:off x="9489356" y="5061793"/>
            <a:ext cx="336708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4次名校体验课+申博咨询费</a:t>
            </a:r>
            <a:endParaRPr lang="en-US" sz="2100" dirty="0"/>
          </a:p>
        </p:txBody>
      </p:sp>
      <p:sp>
        <p:nvSpPr>
          <p:cNvPr id="36" name="table_cell-diagram-UsfAHl-2-2"/>
          <p:cNvSpPr/>
          <p:nvPr/>
        </p:nvSpPr>
        <p:spPr>
          <a:xfrm>
            <a:off x="13632284" y="4379714"/>
            <a:ext cx="3876675" cy="170497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bodytext-diagram-UsfAHl-table-cell-2-2-3"/>
          <p:cNvSpPr txBox="1"/>
          <p:nvPr/>
        </p:nvSpPr>
        <p:spPr>
          <a:xfrm>
            <a:off x="14084350" y="5061793"/>
            <a:ext cx="302418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包含德意志博物馆等门票</a:t>
            </a:r>
            <a:endParaRPr lang="en-US" sz="2100" dirty="0"/>
          </a:p>
        </p:txBody>
      </p:sp>
      <p:sp>
        <p:nvSpPr>
          <p:cNvPr id="38" name="table_cell-diagram-UsfAHl-3-0"/>
          <p:cNvSpPr/>
          <p:nvPr/>
        </p:nvSpPr>
        <p:spPr>
          <a:xfrm>
            <a:off x="7315200" y="6094735"/>
            <a:ext cx="1343025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9" name="Shape 37"/>
          <p:cNvSpPr/>
          <p:nvPr/>
        </p:nvSpPr>
        <p:spPr>
          <a:xfrm>
            <a:off x="7315200" y="7790185"/>
            <a:ext cx="1343025" cy="952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0" name="Shape 38"/>
          <p:cNvSpPr/>
          <p:nvPr/>
        </p:nvSpPr>
        <p:spPr>
          <a:xfrm>
            <a:off x="7315200" y="6094735"/>
            <a:ext cx="9525" cy="17049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1" name="bodytext-diagram-UsfAHl-table-cell-3-0-4"/>
          <p:cNvSpPr txBox="1"/>
          <p:nvPr/>
        </p:nvSpPr>
        <p:spPr>
          <a:xfrm>
            <a:off x="7515225" y="6606108"/>
            <a:ext cx="9953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交通费用</a:t>
            </a:r>
            <a:endParaRPr lang="en-US" sz="2100" dirty="0"/>
          </a:p>
        </p:txBody>
      </p:sp>
      <p:sp>
        <p:nvSpPr>
          <p:cNvPr id="42" name="table_cell-diagram-UsfAHl-3-1"/>
          <p:cNvSpPr/>
          <p:nvPr/>
        </p:nvSpPr>
        <p:spPr>
          <a:xfrm>
            <a:off x="8672438" y="6094735"/>
            <a:ext cx="4953000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3" name="Shape 41"/>
          <p:cNvSpPr/>
          <p:nvPr/>
        </p:nvSpPr>
        <p:spPr>
          <a:xfrm>
            <a:off x="8672438" y="7790185"/>
            <a:ext cx="4953000" cy="952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4" name="Shape 42"/>
          <p:cNvSpPr/>
          <p:nvPr/>
        </p:nvSpPr>
        <p:spPr>
          <a:xfrm>
            <a:off x="8672438" y="6094735"/>
            <a:ext cx="9525" cy="17049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5" name="bodytext-diagram-UsfAHl-table-cell-3-1-4"/>
          <p:cNvSpPr txBox="1"/>
          <p:nvPr/>
        </p:nvSpPr>
        <p:spPr>
          <a:xfrm>
            <a:off x="8935269" y="6776814"/>
            <a:ext cx="4481513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德国境内跨城火车（DB）及市区交通</a:t>
            </a:r>
            <a:endParaRPr lang="en-US" sz="2100" dirty="0"/>
          </a:p>
        </p:txBody>
      </p:sp>
      <p:sp>
        <p:nvSpPr>
          <p:cNvPr id="46" name="table_cell-diagram-UsfAHl-3-2"/>
          <p:cNvSpPr/>
          <p:nvPr/>
        </p:nvSpPr>
        <p:spPr>
          <a:xfrm>
            <a:off x="13632284" y="6094735"/>
            <a:ext cx="3876675" cy="170497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7" name="bodytext-diagram-UsfAHl-table-cell-3-2-4"/>
          <p:cNvSpPr txBox="1"/>
          <p:nvPr/>
        </p:nvSpPr>
        <p:spPr>
          <a:xfrm>
            <a:off x="14234889" y="6776814"/>
            <a:ext cx="271938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法兰克福-柏林-慕尼黑</a:t>
            </a:r>
            <a:endParaRPr lang="en-US" sz="2100" dirty="0"/>
          </a:p>
        </p:txBody>
      </p:sp>
      <p:sp>
        <p:nvSpPr>
          <p:cNvPr id="48" name="table_cell-diagram-UsfAHl-4-0"/>
          <p:cNvSpPr/>
          <p:nvPr/>
        </p:nvSpPr>
        <p:spPr>
          <a:xfrm>
            <a:off x="7315200" y="7809756"/>
            <a:ext cx="1343025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9" name="Shape 47"/>
          <p:cNvSpPr/>
          <p:nvPr/>
        </p:nvSpPr>
        <p:spPr>
          <a:xfrm>
            <a:off x="7315200" y="9505206"/>
            <a:ext cx="1343025" cy="952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0" name="Shape 48"/>
          <p:cNvSpPr/>
          <p:nvPr/>
        </p:nvSpPr>
        <p:spPr>
          <a:xfrm>
            <a:off x="7315200" y="7809756"/>
            <a:ext cx="9525" cy="17049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1" name="bodytext-diagram-UsfAHl-table-cell-4-0-5"/>
          <p:cNvSpPr txBox="1"/>
          <p:nvPr/>
        </p:nvSpPr>
        <p:spPr>
          <a:xfrm>
            <a:off x="7515225" y="8321278"/>
            <a:ext cx="995363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额外自理</a:t>
            </a:r>
            <a:endParaRPr lang="en-US" sz="2100" dirty="0"/>
          </a:p>
        </p:txBody>
      </p:sp>
      <p:sp>
        <p:nvSpPr>
          <p:cNvPr id="52" name="table_cell-diagram-UsfAHl-4-1"/>
          <p:cNvSpPr/>
          <p:nvPr/>
        </p:nvSpPr>
        <p:spPr>
          <a:xfrm>
            <a:off x="8672438" y="7809756"/>
            <a:ext cx="4953000" cy="17049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3" name="Shape 51"/>
          <p:cNvSpPr/>
          <p:nvPr/>
        </p:nvSpPr>
        <p:spPr>
          <a:xfrm>
            <a:off x="8672438" y="9505206"/>
            <a:ext cx="4953000" cy="952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4" name="Shape 52"/>
          <p:cNvSpPr/>
          <p:nvPr/>
        </p:nvSpPr>
        <p:spPr>
          <a:xfrm>
            <a:off x="8672438" y="7809756"/>
            <a:ext cx="9525" cy="1704975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5" name="bodytext-diagram-UsfAHl-table-cell-4-1-5"/>
          <p:cNvSpPr txBox="1"/>
          <p:nvPr/>
        </p:nvSpPr>
        <p:spPr>
          <a:xfrm>
            <a:off x="8872463" y="8321278"/>
            <a:ext cx="46053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签证费（约1000）+ 往返机票（约10000）</a:t>
            </a:r>
            <a:endParaRPr lang="en-US" sz="2100" dirty="0"/>
          </a:p>
        </p:txBody>
      </p:sp>
      <p:sp>
        <p:nvSpPr>
          <p:cNvPr id="56" name="table_cell-diagram-UsfAHl-4-2"/>
          <p:cNvSpPr/>
          <p:nvPr/>
        </p:nvSpPr>
        <p:spPr>
          <a:xfrm>
            <a:off x="13632284" y="7809756"/>
            <a:ext cx="3876675" cy="170497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7" name="bodytext-diagram-UsfAHl-table-cell-4-2-5"/>
          <p:cNvSpPr txBox="1"/>
          <p:nvPr/>
        </p:nvSpPr>
        <p:spPr>
          <a:xfrm>
            <a:off x="13864084" y="8491910"/>
            <a:ext cx="3462338" cy="443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000000"/>
                </a:solidFill>
                <a:latin typeface="Inter" panose="02000503000000020004" pitchFamily="2" charset="0"/>
              </a:rPr>
              <a:t>每日中晚餐约5000RMB自理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98fc59-d3ee-411f-9f37-400318c30797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" name="rockettakeoff4node-Layer_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headingtext-diagram-T5WHVG-0-1"/>
          <p:cNvSpPr txBox="1"/>
          <p:nvPr/>
        </p:nvSpPr>
        <p:spPr>
          <a:xfrm>
            <a:off x="2779365" y="3222873"/>
            <a:ext cx="4986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明确目标</a:t>
            </a:r>
            <a:endParaRPr lang="en-US" sz="2100" dirty="0"/>
          </a:p>
        </p:txBody>
      </p:sp>
      <p:sp>
        <p:nvSpPr>
          <p:cNvPr id="5" name="bodytext-diagram-T5WHVG-0-1"/>
          <p:cNvSpPr txBox="1"/>
          <p:nvPr/>
        </p:nvSpPr>
        <p:spPr>
          <a:xfrm>
            <a:off x="2779365" y="3699123"/>
            <a:ext cx="49863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r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实地考察后确立最适合自己的“梦校”与“导师”方案。</a:t>
            </a:r>
            <a:endParaRPr lang="en-US" sz="2100" dirty="0"/>
          </a:p>
        </p:txBody>
      </p:sp>
      <p:sp>
        <p:nvSpPr>
          <p:cNvPr id="6" name="headingtext-diagram-T5WHVG-1-2"/>
          <p:cNvSpPr txBox="1"/>
          <p:nvPr/>
        </p:nvSpPr>
        <p:spPr>
          <a:xfrm>
            <a:off x="10727010" y="3222873"/>
            <a:ext cx="4986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人脉积累</a:t>
            </a:r>
            <a:endParaRPr lang="en-US" sz="2100" dirty="0"/>
          </a:p>
        </p:txBody>
      </p:sp>
      <p:sp>
        <p:nvSpPr>
          <p:cNvPr id="7" name="bodytext-diagram-T5WHVG-1-2"/>
          <p:cNvSpPr txBox="1"/>
          <p:nvPr/>
        </p:nvSpPr>
        <p:spPr>
          <a:xfrm>
            <a:off x="10727009" y="3699123"/>
            <a:ext cx="5282485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与德国名校在读精英建立长期的互助联系。</a:t>
            </a:r>
            <a:endParaRPr lang="en-US" sz="2100" dirty="0"/>
          </a:p>
        </p:txBody>
      </p:sp>
      <p:sp>
        <p:nvSpPr>
          <p:cNvPr id="8" name="headingtext-diagram-T5WHVG-2-3"/>
          <p:cNvSpPr txBox="1"/>
          <p:nvPr/>
        </p:nvSpPr>
        <p:spPr>
          <a:xfrm>
            <a:off x="1826865" y="6499473"/>
            <a:ext cx="4986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背景加持</a:t>
            </a:r>
            <a:endParaRPr lang="en-US" sz="2100" dirty="0"/>
          </a:p>
        </p:txBody>
      </p:sp>
      <p:sp>
        <p:nvSpPr>
          <p:cNvPr id="9" name="bodytext-diagram-T5WHVG-2-3"/>
          <p:cNvSpPr txBox="1"/>
          <p:nvPr/>
        </p:nvSpPr>
        <p:spPr>
          <a:xfrm>
            <a:off x="1622152" y="6975723"/>
            <a:ext cx="5191051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r">
              <a:lnSpc>
                <a:spcPts val="2690"/>
              </a:lnSpc>
              <a:buNone/>
            </a:pPr>
            <a:r>
              <a:rPr lang="en-US" sz="2100" kern="1200" spc="40" dirty="0" err="1">
                <a:solidFill>
                  <a:srgbClr val="4D535C"/>
                </a:solidFill>
                <a:latin typeface="Inter" panose="02000503000000020004" pitchFamily="2" charset="0"/>
              </a:rPr>
              <a:t>名校课堂体验，显著提升留学申请成功率</a:t>
            </a: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。</a:t>
            </a:r>
            <a:endParaRPr lang="en-US" sz="2100" dirty="0"/>
          </a:p>
        </p:txBody>
      </p:sp>
      <p:sp>
        <p:nvSpPr>
          <p:cNvPr id="10" name="headingtext-diagram-T5WHVG-3-4"/>
          <p:cNvSpPr txBox="1"/>
          <p:nvPr/>
        </p:nvSpPr>
        <p:spPr>
          <a:xfrm>
            <a:off x="11679510" y="6499473"/>
            <a:ext cx="4986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kern="1200" spc="-59" dirty="0">
                <a:solidFill>
                  <a:srgbClr val="000000"/>
                </a:solidFill>
                <a:latin typeface="Poppins Medium" panose="00000600000000000000" pitchFamily="2" charset="0"/>
              </a:rPr>
              <a:t>认知升级</a:t>
            </a:r>
            <a:endParaRPr lang="en-US" sz="2100" dirty="0"/>
          </a:p>
        </p:txBody>
      </p:sp>
      <p:sp>
        <p:nvSpPr>
          <p:cNvPr id="11" name="bodytext-diagram-T5WHVG-3-4"/>
          <p:cNvSpPr txBox="1"/>
          <p:nvPr/>
        </p:nvSpPr>
        <p:spPr>
          <a:xfrm>
            <a:off x="11679510" y="6975723"/>
            <a:ext cx="498633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深入理解德国工业与学术精神，注入德式严谨基因。</a:t>
            </a:r>
            <a:endParaRPr lang="en-US" sz="2100" dirty="0"/>
          </a:p>
        </p:txBody>
      </p:sp>
      <p:sp>
        <p:nvSpPr>
          <p:cNvPr id="12" name="title-451"/>
          <p:cNvSpPr txBox="1"/>
          <p:nvPr/>
        </p:nvSpPr>
        <p:spPr>
          <a:xfrm>
            <a:off x="762000" y="762000"/>
            <a:ext cx="8110537" cy="1539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4200" kern="1200" spc="-118" dirty="0">
                <a:solidFill>
                  <a:srgbClr val="000000"/>
                </a:solidFill>
                <a:latin typeface="Poppins Medium" panose="00000600000000000000" pitchFamily="2" charset="0"/>
              </a:rPr>
              <a:t>项目收获与愿景：一次旅行，改变一生的学术轨迹</a:t>
            </a:r>
            <a:endParaRPr lang="en-US" sz="4200" dirty="0"/>
          </a:p>
        </p:txBody>
      </p:sp>
      <p:sp>
        <p:nvSpPr>
          <p:cNvPr id="13" name="subtitle-415"/>
          <p:cNvSpPr txBox="1"/>
          <p:nvPr/>
        </p:nvSpPr>
        <p:spPr>
          <a:xfrm>
            <a:off x="9448800" y="762000"/>
            <a:ext cx="8110537" cy="9391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3290"/>
              </a:lnSpc>
              <a:buNone/>
            </a:pPr>
            <a:r>
              <a:rPr lang="en-US" sz="2700" kern="1200" spc="51" dirty="0">
                <a:solidFill>
                  <a:srgbClr val="4D535C"/>
                </a:solidFill>
                <a:latin typeface="Inter" panose="02000503000000020004" pitchFamily="2" charset="0"/>
              </a:rPr>
              <a:t>通过这段莱茵之路，学生收获的不仅是眼界，更是扎实的学术竞争力。</a:t>
            </a:r>
            <a:endParaRPr lang="en-US" sz="2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ab5d94a-656b-4b48-a3a6-bfe2fbdb9849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dewdrop-design-shape-style-3-c-a"/>
          <p:cNvSpPr/>
          <p:nvPr/>
        </p:nvSpPr>
        <p:spPr>
          <a:xfrm>
            <a:off x="0" y="9524777"/>
            <a:ext cx="714375" cy="762000"/>
          </a:xfrm>
          <a:prstGeom prst="rect">
            <a:avLst/>
          </a:prstGeom>
          <a:solidFill>
            <a:srgbClr val="1B116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cs-dewdrop-design-shape-style-3-c-b"/>
          <p:cNvSpPr/>
          <p:nvPr/>
        </p:nvSpPr>
        <p:spPr>
          <a:xfrm>
            <a:off x="14935795" y="0"/>
            <a:ext cx="1524000" cy="752475"/>
          </a:xfrm>
          <a:prstGeom prst="rect">
            <a:avLst/>
          </a:prstGeom>
          <a:solidFill>
            <a:srgbClr val="60A46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cs-dewdrop-design-shape-style-3-c-c"/>
          <p:cNvSpPr/>
          <p:nvPr/>
        </p:nvSpPr>
        <p:spPr>
          <a:xfrm>
            <a:off x="17574816" y="0"/>
            <a:ext cx="714375" cy="752475"/>
          </a:xfrm>
          <a:prstGeom prst="rect">
            <a:avLst/>
          </a:prstGeom>
          <a:solidFill>
            <a:srgbClr val="FECAD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itle-407"/>
          <p:cNvSpPr txBox="1"/>
          <p:nvPr/>
        </p:nvSpPr>
        <p:spPr>
          <a:xfrm>
            <a:off x="775469" y="3953545"/>
            <a:ext cx="6148388" cy="153924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4200" kern="1200" spc="-118" dirty="0">
                <a:solidFill>
                  <a:srgbClr val="000000"/>
                </a:solidFill>
                <a:latin typeface="Poppins Medium" panose="00000600000000000000" pitchFamily="2" charset="0"/>
              </a:rPr>
              <a:t>立即开启您的2026德国名校梦想之旅</a:t>
            </a:r>
            <a:endParaRPr lang="en-US" sz="4200" dirty="0"/>
          </a:p>
        </p:txBody>
      </p:sp>
      <p:sp>
        <p:nvSpPr>
          <p:cNvPr id="7" name="subtitle-470"/>
          <p:cNvSpPr txBox="1"/>
          <p:nvPr/>
        </p:nvSpPr>
        <p:spPr>
          <a:xfrm>
            <a:off x="775469" y="5679356"/>
            <a:ext cx="6148388" cy="786765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690"/>
              </a:lnSpc>
              <a:buNone/>
            </a:pPr>
            <a:r>
              <a:rPr lang="en-US" sz="2100" kern="1200" spc="40" dirty="0">
                <a:solidFill>
                  <a:srgbClr val="4D535C"/>
                </a:solidFill>
                <a:latin typeface="Inter" panose="02000503000000020004" pitchFamily="2" charset="0"/>
              </a:rPr>
              <a:t>名额稀缺，仅限10位优秀学子。期待在法兰克福与您共同见证成长的力量。</a:t>
            </a:r>
            <a:endParaRPr lang="en-US" sz="2100" dirty="0"/>
          </a:p>
        </p:txBody>
      </p:sp>
      <p:sp>
        <p:nvSpPr>
          <p:cNvPr id="8" name="anchorElementA"/>
          <p:cNvSpPr/>
          <p:nvPr/>
        </p:nvSpPr>
        <p:spPr>
          <a:xfrm>
            <a:off x="7639050" y="0"/>
            <a:ext cx="9525" cy="10287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headingtext-diagram-V1hSLr-0-1"/>
          <p:cNvSpPr txBox="1"/>
          <p:nvPr/>
        </p:nvSpPr>
        <p:spPr>
          <a:xfrm>
            <a:off x="8410575" y="3192810"/>
            <a:ext cx="2443163" cy="7391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kern="1200" spc="-101" dirty="0">
                <a:solidFill>
                  <a:srgbClr val="000000"/>
                </a:solidFill>
                <a:latin typeface="Poppins Medium" panose="00000600000000000000" pitchFamily="2" charset="0"/>
              </a:rPr>
              <a:t>咨询电话</a:t>
            </a:r>
            <a:endParaRPr lang="en-US" sz="3600" dirty="0"/>
          </a:p>
        </p:txBody>
      </p:sp>
      <p:sp>
        <p:nvSpPr>
          <p:cNvPr id="10" name="headingtext-diagram-V1hSLr-1-2"/>
          <p:cNvSpPr txBox="1"/>
          <p:nvPr/>
        </p:nvSpPr>
        <p:spPr>
          <a:xfrm>
            <a:off x="8410575" y="4823445"/>
            <a:ext cx="2443163" cy="7391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kern="1200" spc="-101" dirty="0">
                <a:solidFill>
                  <a:srgbClr val="000000"/>
                </a:solidFill>
                <a:latin typeface="Poppins Medium" panose="00000600000000000000" pitchFamily="2" charset="0"/>
              </a:rPr>
              <a:t>官方微信</a:t>
            </a:r>
            <a:endParaRPr lang="en-US" sz="3600" dirty="0"/>
          </a:p>
        </p:txBody>
      </p:sp>
      <p:sp>
        <p:nvSpPr>
          <p:cNvPr id="11" name="headingtext-diagram-V1hSLr-2-3"/>
          <p:cNvSpPr txBox="1"/>
          <p:nvPr/>
        </p:nvSpPr>
        <p:spPr>
          <a:xfrm>
            <a:off x="8410575" y="6454080"/>
            <a:ext cx="2443163" cy="7391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kern="1200" spc="-101" dirty="0">
                <a:solidFill>
                  <a:srgbClr val="000000"/>
                </a:solidFill>
                <a:latin typeface="Poppins Medium" panose="00000600000000000000" pitchFamily="2" charset="0"/>
              </a:rPr>
              <a:t>2026申请季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388</Words>
  <Application>Microsoft Macintosh PowerPoint</Application>
  <PresentationFormat>Custom</PresentationFormat>
  <Paragraphs>151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Poppins Medium</vt:lpstr>
      <vt:lpstr>Arial</vt:lpstr>
      <vt:lpstr>Inter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 CRAFT TECHNOLOGIES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Exporter Version:1.1.2</dc:title>
  <dc:subject> </dc:subject>
  <dc:creator>Presentations.AI</dc:creator>
  <cp:lastModifiedBy>Han Yang</cp:lastModifiedBy>
  <cp:revision>2</cp:revision>
  <dcterms:created xsi:type="dcterms:W3CDTF">2026-05-25T14:24:06Z</dcterms:created>
  <dcterms:modified xsi:type="dcterms:W3CDTF">2026-05-25T14:27:16Z</dcterms:modified>
</cp:coreProperties>
</file>